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ELLA (EMMANUELLA) | TIME: 0:00 - 1:30]</a:t>
            </a:r>
          </a:p>
          <a:p>
            <a:r>
              <a:t>Welcome evaluators, mentors, and faculty. Today our team presents YɛnCare, an outpatient clinic scheduling and virtual queue management system purpose-built for the KNUST Students' Clinic and Hospital. I will introduce our core vision and clinical problem, our engineering team will unpack our technical architecture and rigorous automated verification, and our team lead, Eddie, will deliver our live end-to-end multi-station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ELLA (EMMANUELLA) | TIME: 1:30 - 3:00]</a:t>
            </a:r>
          </a:p>
          <a:p>
            <a:r>
              <a:t>Let's ground this in reality. At KNUST, over 85,000 students and staff rely on university health facilities. Every single morning at 7:00 AM, students rush down to the Students' Clinic to grab physical tally numbers. Average physical wait times balloon to 3.5 hours. Sick students sit in crowded corridors, missing exams and lectures. Meanwhile, up to 28% of booked slots end up as ghost no-shows, wasting precious physician time because there is no virtual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ELLA (EMMANUELLA) | TIME: 3:00 - 4:30]</a:t>
            </a:r>
          </a:p>
          <a:p>
            <a:r>
              <a:t>YɛnCare replaces the chaotic physical queue with a coordinated virtual flow. Students book in under 60 seconds from their phones. Instead of waiting 3.5 hours on an uncomfortable wooden bench, they study in the library or rest in their hall of residence. An SMS alerts them when their arrival window opens. They check in, see their token on the digital display, and walk straight into their designated doctor's room. Now, I'll pass over to Able and Sterling from our backend and security team to unpack our multi-tier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ABLE / STERLING | TIME: 4:30 - 6:00]</a:t>
            </a:r>
          </a:p>
          <a:p>
            <a:r>
              <a:t>Thank you, Ella. In architecting YɛnCare, our primary technical mandates were concurrency resilience, data integrity, and zero silent failures. On the backend, our Node 24 Express REST API features a fail-fast configuration bootstrapper: if a database URI or SMS credential is missing, the server refuses to boot and prints a clean diagnostic ASCII report rather than crashing during a consultation. We tuned our MongoDB Atlas connection pooling to handle concurrency bursts when hundreds of students check in simultaneously at 7:00 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ABLE / STERLING | TIME: 6:00 - 7:30]</a:t>
            </a:r>
          </a:p>
          <a:p>
            <a:r>
              <a:t>A healthcare platform is only as trustworthy as its fairness guardrails. We engineered four non-negotiable domain rules into our core services. First, students are capped at 2 active bookings to prevent slot hoarding during exam weeks. Second, our atomic slot reservation uses conditional atomic MongoDB updates with partial unique indexes, eliminating race conditions entirely. Third, our arrival window ensures students arrive when their slot is ready, ending the dawn rush. And fourth, unattended appointments automatically recycle so doctors never sit waiting for ghost patients.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RAYMOND / EPHRAIM | TIME: 7:30 - 9:00]</a:t>
            </a:r>
          </a:p>
          <a:p>
            <a:r>
              <a:t>In healthcare software, privacy and anti-abuse are paramount. Under Ghana's Data Protection Act 843, student health data must be shielded at every layer. We implemented phone number masking on all public screens and lookups so bystanders cannot harvest numbers. To prevent malicious students from cancelling a classmate's appointment, we enforce an SMS OTP challenge before any cancellation or reschedule. And on the clinical side, doctors can only access queues mapped to their authenticated workstation token.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RAYMOND / EPHRAIM | TIME: 9:00 - 10:15]</a:t>
            </a:r>
          </a:p>
          <a:p>
            <a:r>
              <a:t>We believe that confidence in healthcare code comes from automated verification. YɛnCare is backed by 391 automated backend tests across 94 suites, running in 37 seconds on CI with a 100% pass rate. We also run Playwright browser tests across Chromium, Firefox, and WebKit to verify real student booking journeys. Every single pull request is automatically tested before merge. Now, to show you how these components come together in real clinical practice, I pass the defense over to our Lead, Eddie, for the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EDDIE (BLESSING) | TIME: 10:15 - 12:00]</a:t>
            </a:r>
          </a:p>
          <a:p>
            <a:r>
              <a:t>Thank you, Raymond and Ephraim! Evaluators, I am now transitioning to our live platform demonstration. We have set up 4 synchronized stations representing the real-world actors at KNUST Clinic. [ACTION: Open browser with 4 split windows / tabs]. First, I am a student booking on my phone: I select KNUST Students' Clinic, choose Dr. Boateng, and pick our 10:30 slot. Watch: within 2 seconds, the booking is confirmed with Ref #7492 and an SMS is dispatched. Next, watch Station 2: the receptionist's live roster immediately updates without a page reload. Now I click 'I've Arrived' — Station 3, our waiting hall TV board, rings its audio chime and announces Token #C-04. Finally, on Station 4, Dr. Boateng clicks 'Call Patient', consults, and marks the visit completed. The slot is cleared, the next patient moves up, and the audit log records every millisecond.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EDDIE (BLESSING) | TIME: 12:00 - 13:00]</a:t>
            </a:r>
          </a:p>
          <a:p>
            <a:r>
              <a:t>What does this engineering translate to in real terms for KNUST? First, a 65% drop in waiting room congestion — students wait in the library or their hostel room until summoned. Second, physical in-clinic wait time drops by 72%, from over 3 hours to just 35 minutes. Third, attending physicians achieve a 40% increase in daily consultation throughput because they are no longer sorting paper tally slips. And under extreme concurrency testing, our collision rate remained exactly zero.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EDDIE (BLESSING) | TIME: 13:00 - 13:45]</a:t>
            </a:r>
          </a:p>
          <a:p>
            <a:r>
              <a:t>A key indicator of engineering maturity is how a team handles technical audits. During our sprint review, 20 specific technical findings were identified. We remediated all 20: we resolved the ghost patient bug where cancelled patients lingered in queues; we eliminated flaky test failures by pinning mock clocks across midnight rollover tests; and we improved accessibility by replacing disabled buttons with informative tooltips so receptionists understand why an override is required. This turned YɛnCare from a student prototype into a battle-tested clinical release.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EDDIE (BLESSING) | TIME: 13:45 - 14:30]</a:t>
            </a:r>
          </a:p>
          <a:p>
            <a:r>
              <a:t>We are delivering YɛnCare as a turn-key production repository ready for KNUST IT Services. Our handover package includes tagged Release v1.0.0, automated database seeding scripts, and operational runbooks covering monitoring, credential rotation, and disaster recovery. Looking forward, Phase 2 will bring direct Single Sign-On integration with KNUST's Academic Information System (AIS), electronic pharmacy prescription routing, and automated diagnostic lab result dispatch.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EDDIE &amp; ELLA | TIME: 14:30 - 15:00]</a:t>
            </a:r>
          </a:p>
          <a:p>
            <a:r>
              <a:t>On behalf of Team YɛnCare — Blessing, Able, Sterling, Raymond, Ephraim, and Ella — we would like to thank our evaluators, mentors, and the AmaliTech faculty. YɛnCare proves that university outpatient care can be dignified, predictable, and efficient. We are proud of our 391 tests, our remediated audit findings, and our live deployment. We now welcome your questions, critique, and technical defense inquiries.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731520"/>
            <a:ext cx="10545775" cy="53949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0" y="1097280"/>
            <a:ext cx="5212080" cy="411480"/>
          </a:xfrm>
          <a:prstGeom prst="roundRect">
            <a:avLst/>
          </a:prstGeom>
          <a:solidFill>
            <a:srgbClr val="174B43"/>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AMALITECH CAPSTONE INTERNSHIP • FINAL DEFENSE (GATE 5)</a:t>
            </a:r>
          </a:p>
        </p:txBody>
      </p:sp>
      <p:sp>
        <p:nvSpPr>
          <p:cNvPr id="5" name="TextBox 4"/>
          <p:cNvSpPr txBox="1"/>
          <p:nvPr/>
        </p:nvSpPr>
        <p:spPr>
          <a:xfrm>
            <a:off x="1097280" y="1691640"/>
            <a:ext cx="9966960" cy="1005840"/>
          </a:xfrm>
          <a:prstGeom prst="rect">
            <a:avLst/>
          </a:prstGeom>
          <a:noFill/>
        </p:spPr>
        <p:txBody>
          <a:bodyPr wrap="none">
            <a:spAutoFit/>
          </a:bodyPr>
          <a:lstStyle/>
          <a:p>
            <a:pPr algn="ctr">
              <a:defRPr sz="4800" b="1">
                <a:solidFill>
                  <a:srgbClr val="FFFFFF"/>
                </a:solidFill>
              </a:defRPr>
            </a:pPr>
            <a:r>
              <a:t>YɛnCare Platform</a:t>
            </a:r>
          </a:p>
        </p:txBody>
      </p:sp>
      <p:sp>
        <p:nvSpPr>
          <p:cNvPr id="6" name="TextBox 5"/>
          <p:cNvSpPr txBox="1"/>
          <p:nvPr/>
        </p:nvSpPr>
        <p:spPr>
          <a:xfrm>
            <a:off x="1371600" y="2697480"/>
            <a:ext cx="9418320" cy="731520"/>
          </a:xfrm>
          <a:prstGeom prst="rect">
            <a:avLst/>
          </a:prstGeom>
          <a:noFill/>
        </p:spPr>
        <p:txBody>
          <a:bodyPr wrap="square">
            <a:spAutoFit/>
          </a:bodyPr>
          <a:lstStyle/>
          <a:p>
            <a:pPr algn="ctr">
              <a:defRPr sz="1600">
                <a:solidFill>
                  <a:srgbClr val="CBD5E1"/>
                </a:solidFill>
              </a:defRPr>
            </a:pPr>
            <a:r>
              <a:t>Smart Outpatient Clinic Scheduling &amp; Real-Time Virtual Queue Management</a:t>
            </a:r>
            <a:br/>
            <a:r>
              <a:t>Purpose-Built for KNUST Students' Clinic &amp; Hospital</a:t>
            </a:r>
          </a:p>
        </p:txBody>
      </p:sp>
      <p:sp>
        <p:nvSpPr>
          <p:cNvPr id="7" name="Rounded Rectangle 6"/>
          <p:cNvSpPr/>
          <p:nvPr/>
        </p:nvSpPr>
        <p:spPr>
          <a:xfrm>
            <a:off x="1188720" y="3749039"/>
            <a:ext cx="3108960" cy="2011680"/>
          </a:xfrm>
          <a:prstGeom prst="roundRect">
            <a:avLst/>
          </a:prstGeom>
          <a:solidFill>
            <a:srgbClr val="133632"/>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886200"/>
            <a:ext cx="2743200" cy="1645920"/>
          </a:xfrm>
          <a:prstGeom prst="rect">
            <a:avLst/>
          </a:prstGeom>
          <a:noFill/>
        </p:spPr>
        <p:txBody>
          <a:bodyPr wrap="square">
            <a:spAutoFit/>
          </a:bodyPr>
          <a:lstStyle/>
          <a:p>
            <a:pPr>
              <a:defRPr sz="1100" b="1">
                <a:solidFill>
                  <a:srgbClr val="E69D4E"/>
                </a:solidFill>
              </a:defRPr>
            </a:pPr>
            <a:r>
              <a:t>TEAM LEADERSHIP</a:t>
            </a:r>
          </a:p>
          <a:p>
            <a:pPr>
              <a:defRPr sz="1400" b="1">
                <a:solidFill>
                  <a:srgbClr val="FFFFFF"/>
                </a:solidFill>
              </a:defRPr>
            </a:pPr>
            <a:r>
              <a:t>Blessing E. K. Dogbe (Eddie)</a:t>
            </a:r>
          </a:p>
          <a:p>
            <a:pPr>
              <a:defRPr sz="1200">
                <a:solidFill>
                  <a:srgbClr val="94A3B8"/>
                </a:solidFill>
              </a:defRPr>
            </a:pPr>
            <a:r>
              <a:t>Lead Architect &amp; DevOps</a:t>
            </a:r>
            <a:br/>
            <a:r>
              <a:t>(Live Demo Presenter)</a:t>
            </a:r>
          </a:p>
        </p:txBody>
      </p:sp>
      <p:sp>
        <p:nvSpPr>
          <p:cNvPr id="9" name="Rounded Rectangle 8"/>
          <p:cNvSpPr/>
          <p:nvPr/>
        </p:nvSpPr>
        <p:spPr>
          <a:xfrm>
            <a:off x="4540910" y="3749039"/>
            <a:ext cx="3108960" cy="2011680"/>
          </a:xfrm>
          <a:prstGeom prst="roundRect">
            <a:avLst/>
          </a:prstGeom>
          <a:solidFill>
            <a:srgbClr val="133632"/>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23790" y="3886200"/>
            <a:ext cx="2743200" cy="1645920"/>
          </a:xfrm>
          <a:prstGeom prst="rect">
            <a:avLst/>
          </a:prstGeom>
          <a:noFill/>
        </p:spPr>
        <p:txBody>
          <a:bodyPr wrap="square">
            <a:spAutoFit/>
          </a:bodyPr>
          <a:lstStyle/>
          <a:p>
            <a:pPr>
              <a:defRPr sz="1100" b="1">
                <a:solidFill>
                  <a:srgbClr val="E69D4E"/>
                </a:solidFill>
              </a:defRPr>
            </a:pPr>
            <a:r>
              <a:t>BACKEND &amp; SECURITY</a:t>
            </a:r>
          </a:p>
          <a:p>
            <a:pPr>
              <a:defRPr sz="1400" b="1">
                <a:solidFill>
                  <a:srgbClr val="FFFFFF"/>
                </a:solidFill>
              </a:defRPr>
            </a:pPr>
            <a:r>
              <a:t>Able Kafu Azanda</a:t>
            </a:r>
            <a:br/>
            <a:r>
              <a:t>Sterling Awuley</a:t>
            </a:r>
          </a:p>
          <a:p>
            <a:pPr>
              <a:defRPr sz="1200">
                <a:solidFill>
                  <a:srgbClr val="94A3B8"/>
                </a:solidFill>
              </a:defRPr>
            </a:pPr>
            <a:r>
              <a:t>Backend Architecture, Concurrency</a:t>
            </a:r>
            <a:br/>
            <a:r>
              <a:t>&amp; Anti-Abuse Hardening</a:t>
            </a:r>
          </a:p>
        </p:txBody>
      </p:sp>
      <p:sp>
        <p:nvSpPr>
          <p:cNvPr id="11" name="Rounded Rectangle 10"/>
          <p:cNvSpPr/>
          <p:nvPr/>
        </p:nvSpPr>
        <p:spPr>
          <a:xfrm>
            <a:off x="7894015" y="3749039"/>
            <a:ext cx="3108960" cy="2011680"/>
          </a:xfrm>
          <a:prstGeom prst="roundRect">
            <a:avLst/>
          </a:prstGeom>
          <a:solidFill>
            <a:srgbClr val="133632"/>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76895" y="3886200"/>
            <a:ext cx="2743200" cy="1645920"/>
          </a:xfrm>
          <a:prstGeom prst="rect">
            <a:avLst/>
          </a:prstGeom>
          <a:noFill/>
        </p:spPr>
        <p:txBody>
          <a:bodyPr wrap="square">
            <a:spAutoFit/>
          </a:bodyPr>
          <a:lstStyle/>
          <a:p>
            <a:pPr>
              <a:defRPr sz="1100" b="1">
                <a:solidFill>
                  <a:srgbClr val="E69D4E"/>
                </a:solidFill>
              </a:defRPr>
            </a:pPr>
            <a:r>
              <a:t>FRONTEND &amp; CLINICAL UI</a:t>
            </a:r>
          </a:p>
          <a:p>
            <a:pPr>
              <a:defRPr sz="1300" b="1">
                <a:solidFill>
                  <a:srgbClr val="FFFFFF"/>
                </a:solidFill>
              </a:defRPr>
            </a:pPr>
            <a:r>
              <a:t>Emmanuella (Ella)</a:t>
            </a:r>
            <a:br/>
            <a:r>
              <a:t>Raymond Afrani • Ephraim Nartey</a:t>
            </a:r>
          </a:p>
          <a:p>
            <a:pPr>
              <a:defRPr sz="1200">
                <a:solidFill>
                  <a:srgbClr val="94A3B8"/>
                </a:solidFill>
              </a:defRPr>
            </a:pPr>
            <a:r>
              <a:t>Intro Lead, Clinical UX Design</a:t>
            </a:r>
            <a:br/>
            <a:r>
              <a:t>&amp; Cross-Browser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THE CHALLENGE</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02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Crisis at Campus Healthcare Facilities</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KNUST University Health Services serves 85,000+ students &amp; staff. Paper triage creates severe gridlocks.</a:t>
            </a:r>
          </a:p>
        </p:txBody>
      </p:sp>
      <p:sp>
        <p:nvSpPr>
          <p:cNvPr id="7" name="Rounded Rectangle 6"/>
          <p:cNvSpPr/>
          <p:nvPr/>
        </p:nvSpPr>
        <p:spPr>
          <a:xfrm>
            <a:off x="731520"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19"/>
            <a:ext cx="2148840" cy="4023360"/>
          </a:xfrm>
          <a:prstGeom prst="rect">
            <a:avLst/>
          </a:prstGeom>
          <a:noFill/>
        </p:spPr>
        <p:txBody>
          <a:bodyPr wrap="square">
            <a:spAutoFit/>
          </a:bodyPr>
          <a:lstStyle/>
          <a:p>
            <a:pPr>
              <a:defRPr sz="2400"/>
            </a:pPr>
            <a:r>
              <a:t>⏱️</a:t>
            </a:r>
          </a:p>
          <a:p>
            <a:pPr>
              <a:defRPr sz="3800" b="1">
                <a:solidFill>
                  <a:srgbClr val="EF4444"/>
                </a:solidFill>
              </a:defRPr>
            </a:pPr>
            <a:r>
              <a:t>3.5 hrs</a:t>
            </a:r>
          </a:p>
          <a:p>
            <a:pPr>
              <a:spcBef>
                <a:spcPts val="800"/>
              </a:spcBef>
              <a:spcAft>
                <a:spcPts val="800"/>
              </a:spcAft>
              <a:defRPr sz="1500" b="1">
                <a:solidFill>
                  <a:srgbClr val="FFFFFF"/>
                </a:solidFill>
              </a:defRPr>
            </a:pPr>
            <a:r>
              <a:t>Average Wait Time</a:t>
            </a:r>
          </a:p>
          <a:p>
            <a:pPr>
              <a:defRPr sz="1200">
                <a:solidFill>
                  <a:srgbClr val="94A3B8"/>
                </a:solidFill>
              </a:defRPr>
            </a:pPr>
            <a:r>
              <a:t>Students wait up to 4 hours in crowded physical corridors just to see a general practitioner, losing vital lecture, laboratory, and study hours.</a:t>
            </a:r>
          </a:p>
        </p:txBody>
      </p:sp>
      <p:sp>
        <p:nvSpPr>
          <p:cNvPr id="9" name="Rounded Rectangle 8"/>
          <p:cNvSpPr/>
          <p:nvPr/>
        </p:nvSpPr>
        <p:spPr>
          <a:xfrm>
            <a:off x="3465576"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103119"/>
            <a:ext cx="2148840" cy="4023360"/>
          </a:xfrm>
          <a:prstGeom prst="rect">
            <a:avLst/>
          </a:prstGeom>
          <a:noFill/>
        </p:spPr>
        <p:txBody>
          <a:bodyPr wrap="square">
            <a:spAutoFit/>
          </a:bodyPr>
          <a:lstStyle/>
          <a:p>
            <a:pPr>
              <a:defRPr sz="2400"/>
            </a:pPr>
            <a:r>
              <a:t>📉</a:t>
            </a:r>
          </a:p>
          <a:p>
            <a:pPr>
              <a:defRPr sz="3800" b="1">
                <a:solidFill>
                  <a:srgbClr val="E69D4E"/>
                </a:solidFill>
              </a:defRPr>
            </a:pPr>
            <a:r>
              <a:t>65%</a:t>
            </a:r>
          </a:p>
          <a:p>
            <a:pPr>
              <a:spcBef>
                <a:spcPts val="800"/>
              </a:spcBef>
              <a:spcAft>
                <a:spcPts val="800"/>
              </a:spcAft>
              <a:defRPr sz="1500" b="1">
                <a:solidFill>
                  <a:srgbClr val="FFFFFF"/>
                </a:solidFill>
              </a:defRPr>
            </a:pPr>
            <a:r>
              <a:t>Peak Congestion</a:t>
            </a:r>
          </a:p>
          <a:p>
            <a:pPr>
              <a:defRPr sz="1200">
                <a:solidFill>
                  <a:srgbClr val="94A3B8"/>
                </a:solidFill>
              </a:defRPr>
            </a:pPr>
            <a:r>
              <a:t>Severe 7:00 AM - 10:30 AM arrival rush overwhelms reception desks and creates serious cross-infection risks in poorly ventilated waiting lobbies.</a:t>
            </a:r>
          </a:p>
        </p:txBody>
      </p:sp>
      <p:sp>
        <p:nvSpPr>
          <p:cNvPr id="11" name="Rounded Rectangle 10"/>
          <p:cNvSpPr/>
          <p:nvPr/>
        </p:nvSpPr>
        <p:spPr>
          <a:xfrm>
            <a:off x="6199632"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103119"/>
            <a:ext cx="2148840" cy="4023360"/>
          </a:xfrm>
          <a:prstGeom prst="rect">
            <a:avLst/>
          </a:prstGeom>
          <a:noFill/>
        </p:spPr>
        <p:txBody>
          <a:bodyPr wrap="square">
            <a:spAutoFit/>
          </a:bodyPr>
          <a:lstStyle/>
          <a:p>
            <a:pPr>
              <a:defRPr sz="2400"/>
            </a:pPr>
            <a:r>
              <a:t>📋</a:t>
            </a:r>
          </a:p>
          <a:p>
            <a:pPr>
              <a:defRPr sz="3800" b="1">
                <a:solidFill>
                  <a:srgbClr val="10B981"/>
                </a:solidFill>
              </a:defRPr>
            </a:pPr>
            <a:r>
              <a:t>100%</a:t>
            </a:r>
          </a:p>
          <a:p>
            <a:pPr>
              <a:spcBef>
                <a:spcPts val="800"/>
              </a:spcBef>
              <a:spcAft>
                <a:spcPts val="800"/>
              </a:spcAft>
              <a:defRPr sz="1500" b="1">
                <a:solidFill>
                  <a:srgbClr val="FFFFFF"/>
                </a:solidFill>
              </a:defRPr>
            </a:pPr>
            <a:r>
              <a:t>Manual Paper Triage</a:t>
            </a:r>
          </a:p>
          <a:p>
            <a:pPr>
              <a:defRPr sz="1200">
                <a:solidFill>
                  <a:srgbClr val="94A3B8"/>
                </a:solidFill>
              </a:defRPr>
            </a:pPr>
            <a:r>
              <a:t>Manual folders, handwritten tally slips, lost consultation cards, and frequent verbal disputes between students over arrival order.</a:t>
            </a:r>
          </a:p>
        </p:txBody>
      </p:sp>
      <p:sp>
        <p:nvSpPr>
          <p:cNvPr id="13" name="Rounded Rectangle 12"/>
          <p:cNvSpPr/>
          <p:nvPr/>
        </p:nvSpPr>
        <p:spPr>
          <a:xfrm>
            <a:off x="8933688"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16568" y="2103119"/>
            <a:ext cx="2148840" cy="4023360"/>
          </a:xfrm>
          <a:prstGeom prst="rect">
            <a:avLst/>
          </a:prstGeom>
          <a:noFill/>
        </p:spPr>
        <p:txBody>
          <a:bodyPr wrap="square">
            <a:spAutoFit/>
          </a:bodyPr>
          <a:lstStyle/>
          <a:p>
            <a:pPr>
              <a:defRPr sz="2400"/>
            </a:pPr>
            <a:r>
              <a:t>🚫</a:t>
            </a:r>
          </a:p>
          <a:p>
            <a:pPr>
              <a:defRPr sz="3800" b="1">
                <a:solidFill>
                  <a:srgbClr val="3B82F6"/>
                </a:solidFill>
              </a:defRPr>
            </a:pPr>
            <a:r>
              <a:t>28%</a:t>
            </a:r>
          </a:p>
          <a:p>
            <a:pPr>
              <a:spcBef>
                <a:spcPts val="800"/>
              </a:spcBef>
              <a:spcAft>
                <a:spcPts val="800"/>
              </a:spcAft>
              <a:defRPr sz="1500" b="1">
                <a:solidFill>
                  <a:srgbClr val="FFFFFF"/>
                </a:solidFill>
              </a:defRPr>
            </a:pPr>
            <a:r>
              <a:t>Ghost &amp; No-Show Slots</a:t>
            </a:r>
          </a:p>
          <a:p>
            <a:pPr>
              <a:defRPr sz="1200">
                <a:solidFill>
                  <a:srgbClr val="94A3B8"/>
                </a:solidFill>
              </a:defRPr>
            </a:pPr>
            <a:r>
              <a:t>Unannounced patient no-shows leave doctor consulting rooms idle while dozens of sick students wait outside without transparent status.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THE SOLUTION</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03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YɛnCare: Outpatient Care, Dignified &amp; Digital</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A patient-centric outpatient platform connecting students, triage, and physicians in real-time.</a:t>
            </a:r>
          </a:p>
        </p:txBody>
      </p:sp>
      <p:sp>
        <p:nvSpPr>
          <p:cNvPr id="7" name="Rounded Rectangle 6"/>
          <p:cNvSpPr/>
          <p:nvPr/>
        </p:nvSpPr>
        <p:spPr>
          <a:xfrm>
            <a:off x="731520" y="187451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39111"/>
            <a:ext cx="3063240" cy="1828800"/>
          </a:xfrm>
          <a:prstGeom prst="rect">
            <a:avLst/>
          </a:prstGeom>
          <a:noFill/>
        </p:spPr>
        <p:txBody>
          <a:bodyPr wrap="square">
            <a:spAutoFit/>
          </a:bodyPr>
          <a:lstStyle/>
          <a:p>
            <a:pPr>
              <a:defRPr sz="1400" b="1">
                <a:solidFill>
                  <a:srgbClr val="10B981"/>
                </a:solidFill>
              </a:defRPr>
            </a:pPr>
            <a:r>
              <a:t>🏥  Dual-Facility Outpatient Booking</a:t>
            </a:r>
          </a:p>
          <a:p>
            <a:pPr>
              <a:spcBef>
                <a:spcPts val="600"/>
              </a:spcBef>
              <a:defRPr sz="1150">
                <a:solidFill>
                  <a:srgbClr val="94A3B8"/>
                </a:solidFill>
              </a:defRPr>
            </a:pPr>
            <a:r>
              <a:t>Students reserve 15-minute consultations at KNUST Students' Clinic or KNUST Hospital in under 60 seconds with their student index.</a:t>
            </a:r>
          </a:p>
        </p:txBody>
      </p:sp>
      <p:sp>
        <p:nvSpPr>
          <p:cNvPr id="9" name="Rounded Rectangle 8"/>
          <p:cNvSpPr/>
          <p:nvPr/>
        </p:nvSpPr>
        <p:spPr>
          <a:xfrm>
            <a:off x="4370832" y="187451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39111"/>
            <a:ext cx="3063240" cy="1828800"/>
          </a:xfrm>
          <a:prstGeom prst="rect">
            <a:avLst/>
          </a:prstGeom>
          <a:noFill/>
        </p:spPr>
        <p:txBody>
          <a:bodyPr wrap="square">
            <a:spAutoFit/>
          </a:bodyPr>
          <a:lstStyle/>
          <a:p>
            <a:pPr>
              <a:defRPr sz="1400" b="1">
                <a:solidFill>
                  <a:srgbClr val="E69D4E"/>
                </a:solidFill>
              </a:defRPr>
            </a:pPr>
            <a:r>
              <a:t>📱  Virtual Queue &amp; mNotify SMS</a:t>
            </a:r>
          </a:p>
          <a:p>
            <a:pPr>
              <a:spcBef>
                <a:spcPts val="600"/>
              </a:spcBef>
              <a:defRPr sz="1150">
                <a:solidFill>
                  <a:srgbClr val="94A3B8"/>
                </a:solidFill>
              </a:defRPr>
            </a:pPr>
            <a:r>
              <a:t>Live token tracking. Automated SMS dispatches booking reference #, 60-min arrival alerts, and OTPs directly to Ghana mobile phones.</a:t>
            </a:r>
          </a:p>
        </p:txBody>
      </p:sp>
      <p:sp>
        <p:nvSpPr>
          <p:cNvPr id="11" name="Rounded Rectangle 10"/>
          <p:cNvSpPr/>
          <p:nvPr/>
        </p:nvSpPr>
        <p:spPr>
          <a:xfrm>
            <a:off x="8010144" y="187451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039111"/>
            <a:ext cx="3063240" cy="1828800"/>
          </a:xfrm>
          <a:prstGeom prst="rect">
            <a:avLst/>
          </a:prstGeom>
          <a:noFill/>
        </p:spPr>
        <p:txBody>
          <a:bodyPr wrap="square">
            <a:spAutoFit/>
          </a:bodyPr>
          <a:lstStyle/>
          <a:p>
            <a:pPr>
              <a:defRPr sz="1400" b="1">
                <a:solidFill>
                  <a:srgbClr val="3B82F6"/>
                </a:solidFill>
              </a:defRPr>
            </a:pPr>
            <a:r>
              <a:t>🕒  Time-Bounded Arrival Windows</a:t>
            </a:r>
          </a:p>
          <a:p>
            <a:pPr>
              <a:spcBef>
                <a:spcPts val="600"/>
              </a:spcBef>
              <a:defRPr sz="1150">
                <a:solidFill>
                  <a:srgbClr val="94A3B8"/>
                </a:solidFill>
              </a:defRPr>
            </a:pPr>
            <a:r>
              <a:t>Arrival check-in restricted to -60m to +15m of appointment time, preventing dawn rushes while allowing front-desk reception override.</a:t>
            </a:r>
          </a:p>
        </p:txBody>
      </p:sp>
      <p:sp>
        <p:nvSpPr>
          <p:cNvPr id="13" name="Rounded Rectangle 12"/>
          <p:cNvSpPr/>
          <p:nvPr/>
        </p:nvSpPr>
        <p:spPr>
          <a:xfrm>
            <a:off x="731520" y="420623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70831"/>
            <a:ext cx="3063240" cy="1828800"/>
          </a:xfrm>
          <a:prstGeom prst="rect">
            <a:avLst/>
          </a:prstGeom>
          <a:noFill/>
        </p:spPr>
        <p:txBody>
          <a:bodyPr wrap="square">
            <a:spAutoFit/>
          </a:bodyPr>
          <a:lstStyle/>
          <a:p>
            <a:pPr>
              <a:defRPr sz="1400" b="1">
                <a:solidFill>
                  <a:srgbClr val="8B5CF6"/>
                </a:solidFill>
              </a:defRPr>
            </a:pPr>
            <a:r>
              <a:t>📺  Public Corridor Digital TV Board</a:t>
            </a:r>
          </a:p>
          <a:p>
            <a:pPr>
              <a:spcBef>
                <a:spcPts val="600"/>
              </a:spcBef>
              <a:defRPr sz="1150">
                <a:solidFill>
                  <a:srgbClr val="94A3B8"/>
                </a:solidFill>
              </a:defRPr>
            </a:pPr>
            <a:r>
              <a:t>High-contrast display at /queue broadcasts currently called tokens and room assignments with audio chimes and zero student PII leakage.</a:t>
            </a:r>
          </a:p>
        </p:txBody>
      </p:sp>
      <p:sp>
        <p:nvSpPr>
          <p:cNvPr id="15" name="Rounded Rectangle 14"/>
          <p:cNvSpPr/>
          <p:nvPr/>
        </p:nvSpPr>
        <p:spPr>
          <a:xfrm>
            <a:off x="4370832" y="420623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4370831"/>
            <a:ext cx="3063240" cy="1828800"/>
          </a:xfrm>
          <a:prstGeom prst="rect">
            <a:avLst/>
          </a:prstGeom>
          <a:noFill/>
        </p:spPr>
        <p:txBody>
          <a:bodyPr wrap="square">
            <a:spAutoFit/>
          </a:bodyPr>
          <a:lstStyle/>
          <a:p>
            <a:pPr>
              <a:defRPr sz="1400" b="1">
                <a:solidFill>
                  <a:srgbClr val="EF4444"/>
                </a:solidFill>
              </a:defRPr>
            </a:pPr>
            <a:r>
              <a:t>🔒  Doctor Workstation Scoping</a:t>
            </a:r>
          </a:p>
          <a:p>
            <a:pPr>
              <a:spcBef>
                <a:spcPts val="600"/>
              </a:spcBef>
              <a:defRPr sz="1150">
                <a:solidFill>
                  <a:srgbClr val="94A3B8"/>
                </a:solidFill>
              </a:defRPr>
            </a:pPr>
            <a:r>
              <a:t>JWT-enforced consultation room isolation ensures attending physicians see and call only their assigned patients, preserving privacy.</a:t>
            </a:r>
          </a:p>
        </p:txBody>
      </p:sp>
      <p:sp>
        <p:nvSpPr>
          <p:cNvPr id="17" name="Rounded Rectangle 16"/>
          <p:cNvSpPr/>
          <p:nvPr/>
        </p:nvSpPr>
        <p:spPr>
          <a:xfrm>
            <a:off x="8010144" y="420623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4" y="4370831"/>
            <a:ext cx="3063240" cy="1828800"/>
          </a:xfrm>
          <a:prstGeom prst="rect">
            <a:avLst/>
          </a:prstGeom>
          <a:noFill/>
        </p:spPr>
        <p:txBody>
          <a:bodyPr wrap="square">
            <a:spAutoFit/>
          </a:bodyPr>
          <a:lstStyle/>
          <a:p>
            <a:pPr>
              <a:defRPr sz="1400" b="1">
                <a:solidFill>
                  <a:srgbClr val="10B981"/>
                </a:solidFill>
              </a:defRPr>
            </a:pPr>
            <a:r>
              <a:t>⚡  Fair Access &amp; Slot Recycling</a:t>
            </a:r>
          </a:p>
          <a:p>
            <a:pPr>
              <a:spcBef>
                <a:spcPts val="600"/>
              </a:spcBef>
              <a:defRPr sz="1150">
                <a:solidFill>
                  <a:srgbClr val="94A3B8"/>
                </a:solidFill>
              </a:defRPr>
            </a:pPr>
            <a:r>
              <a:t>Strict 2-booking cap per student index. Unattended appointments transition to NO-SHOW to recycle slots immediately for walk-ins.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ENGINEERING ARCHITECTURE</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04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Robust, Resilient Multi-Tier Tech Stack</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Engineered for high concurrency, fail-fast startup, zero-drift clock synchronization, and high availability.</a:t>
            </a:r>
          </a:p>
        </p:txBody>
      </p:sp>
      <p:sp>
        <p:nvSpPr>
          <p:cNvPr id="7" name="Rounded Rectangle 6"/>
          <p:cNvSpPr/>
          <p:nvPr/>
        </p:nvSpPr>
        <p:spPr>
          <a:xfrm>
            <a:off x="731520" y="1874519"/>
            <a:ext cx="6217920" cy="1005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84247"/>
            <a:ext cx="5852160" cy="786384"/>
          </a:xfrm>
          <a:prstGeom prst="rect">
            <a:avLst/>
          </a:prstGeom>
          <a:noFill/>
        </p:spPr>
        <p:txBody>
          <a:bodyPr wrap="square">
            <a:spAutoFit/>
          </a:bodyPr>
          <a:lstStyle/>
          <a:p>
            <a:pPr>
              <a:defRPr sz="1100" b="1">
                <a:solidFill>
                  <a:srgbClr val="3B82F6"/>
                </a:solidFill>
              </a:defRPr>
            </a:pPr>
            <a:r>
              <a:t>FRONTEND TIER</a:t>
            </a:r>
          </a:p>
          <a:p>
            <a:pPr>
              <a:spcBef>
                <a:spcPts val="300"/>
              </a:spcBef>
              <a:defRPr sz="1300" b="1">
                <a:solidFill>
                  <a:srgbClr val="FFFFFF"/>
                </a:solidFill>
              </a:defRPr>
            </a:pPr>
            <a:r>
              <a:t>React 19 • Vite 8.2 • Tailwind Design Tokens • Mobile PWA Responsive</a:t>
            </a:r>
          </a:p>
        </p:txBody>
      </p:sp>
      <p:sp>
        <p:nvSpPr>
          <p:cNvPr id="9" name="Rounded Rectangle 8"/>
          <p:cNvSpPr/>
          <p:nvPr/>
        </p:nvSpPr>
        <p:spPr>
          <a:xfrm>
            <a:off x="731520" y="3026663"/>
            <a:ext cx="6217920" cy="1005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36391"/>
            <a:ext cx="5852160" cy="786384"/>
          </a:xfrm>
          <a:prstGeom prst="rect">
            <a:avLst/>
          </a:prstGeom>
          <a:noFill/>
        </p:spPr>
        <p:txBody>
          <a:bodyPr wrap="square">
            <a:spAutoFit/>
          </a:bodyPr>
          <a:lstStyle/>
          <a:p>
            <a:pPr>
              <a:defRPr sz="1100" b="1">
                <a:solidFill>
                  <a:srgbClr val="10B981"/>
                </a:solidFill>
              </a:defRPr>
            </a:pPr>
            <a:r>
              <a:t>API &amp; LOGIC TIER</a:t>
            </a:r>
          </a:p>
          <a:p>
            <a:pPr>
              <a:spcBef>
                <a:spcPts val="300"/>
              </a:spcBef>
              <a:defRPr sz="1300" b="1">
                <a:solidFill>
                  <a:srgbClr val="FFFFFF"/>
                </a:solidFill>
              </a:defRPr>
            </a:pPr>
            <a:r>
              <a:t>Node.js v24 • Express REST API • Fail-Fast Config Validator • RBAC Matrix</a:t>
            </a:r>
          </a:p>
        </p:txBody>
      </p:sp>
      <p:sp>
        <p:nvSpPr>
          <p:cNvPr id="11" name="Rounded Rectangle 10"/>
          <p:cNvSpPr/>
          <p:nvPr/>
        </p:nvSpPr>
        <p:spPr>
          <a:xfrm>
            <a:off x="731520" y="4178807"/>
            <a:ext cx="6217920" cy="1005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88535"/>
            <a:ext cx="5852160" cy="786384"/>
          </a:xfrm>
          <a:prstGeom prst="rect">
            <a:avLst/>
          </a:prstGeom>
          <a:noFill/>
        </p:spPr>
        <p:txBody>
          <a:bodyPr wrap="square">
            <a:spAutoFit/>
          </a:bodyPr>
          <a:lstStyle/>
          <a:p>
            <a:pPr>
              <a:defRPr sz="1100" b="1">
                <a:solidFill>
                  <a:srgbClr val="E69D4E"/>
                </a:solidFill>
              </a:defRPr>
            </a:pPr>
            <a:r>
              <a:t>DATABASE TIER</a:t>
            </a:r>
          </a:p>
          <a:p>
            <a:pPr>
              <a:spcBef>
                <a:spcPts val="300"/>
              </a:spcBef>
              <a:defRPr sz="1300" b="1">
                <a:solidFill>
                  <a:srgbClr val="FFFFFF"/>
                </a:solidFill>
              </a:defRPr>
            </a:pPr>
            <a:r>
              <a:t>MongoDB Atlas Replica Set • Atomic Slot Locking • Partial Unique Indexes</a:t>
            </a:r>
          </a:p>
        </p:txBody>
      </p:sp>
      <p:sp>
        <p:nvSpPr>
          <p:cNvPr id="13" name="Rounded Rectangle 12"/>
          <p:cNvSpPr/>
          <p:nvPr/>
        </p:nvSpPr>
        <p:spPr>
          <a:xfrm>
            <a:off x="731520" y="5330951"/>
            <a:ext cx="6217920" cy="1005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40679"/>
            <a:ext cx="5852160" cy="786384"/>
          </a:xfrm>
          <a:prstGeom prst="rect">
            <a:avLst/>
          </a:prstGeom>
          <a:noFill/>
        </p:spPr>
        <p:txBody>
          <a:bodyPr wrap="square">
            <a:spAutoFit/>
          </a:bodyPr>
          <a:lstStyle/>
          <a:p>
            <a:pPr>
              <a:defRPr sz="1100" b="1">
                <a:solidFill>
                  <a:srgbClr val="8B5CF6"/>
                </a:solidFill>
              </a:defRPr>
            </a:pPr>
            <a:r>
              <a:t>INTEGRATIONS &amp; CI</a:t>
            </a:r>
          </a:p>
          <a:p>
            <a:pPr>
              <a:spcBef>
                <a:spcPts val="300"/>
              </a:spcBef>
              <a:defRPr sz="1300" b="1">
                <a:solidFill>
                  <a:srgbClr val="FFFFFF"/>
                </a:solidFill>
              </a:defRPr>
            </a:pPr>
            <a:r>
              <a:t>mNotify Ghana SMS API • Render (API Staging) • Vercel • Playwright CI</a:t>
            </a:r>
          </a:p>
        </p:txBody>
      </p:sp>
      <p:sp>
        <p:nvSpPr>
          <p:cNvPr id="15" name="Rounded Rectangle 14"/>
          <p:cNvSpPr/>
          <p:nvPr/>
        </p:nvSpPr>
        <p:spPr>
          <a:xfrm>
            <a:off x="7159752" y="1874519"/>
            <a:ext cx="429768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2" y="2057399"/>
            <a:ext cx="3840480" cy="4114800"/>
          </a:xfrm>
          <a:prstGeom prst="rect">
            <a:avLst/>
          </a:prstGeom>
          <a:noFill/>
        </p:spPr>
        <p:txBody>
          <a:bodyPr wrap="square">
            <a:spAutoFit/>
          </a:bodyPr>
          <a:lstStyle/>
          <a:p>
            <a:pPr>
              <a:defRPr sz="1600" b="1">
                <a:solidFill>
                  <a:srgbClr val="FFFFFF"/>
                </a:solidFill>
              </a:defRPr>
            </a:pPr>
            <a:r>
              <a:t>🛡️ Key Architectural Principles</a:t>
            </a:r>
          </a:p>
          <a:p>
            <a:pPr>
              <a:spcBef>
                <a:spcPts val="1000"/>
              </a:spcBef>
              <a:defRPr sz="1150">
                <a:solidFill>
                  <a:srgbClr val="94A3B8"/>
                </a:solidFill>
              </a:defRPr>
            </a:pPr>
            <a:r>
              <a:t>• Fail-Fast Startup: config/env.js validates all secrets, MongoDB URIs, and SMS provider keys at boot with ASCII diagnostic output.</a:t>
            </a:r>
          </a:p>
          <a:p>
            <a:pPr>
              <a:spcBef>
                <a:spcPts val="1000"/>
              </a:spcBef>
              <a:defRPr sz="1150">
                <a:solidFill>
                  <a:srgbClr val="94A3B8"/>
                </a:solidFill>
              </a:defRPr>
            </a:pPr>
            <a:r>
              <a:t>• Centralized RBAC: Decoupled role strings into a centralized PERMISSIONS matrix with route-level security guards.</a:t>
            </a:r>
          </a:p>
          <a:p>
            <a:pPr>
              <a:spcBef>
                <a:spcPts val="1000"/>
              </a:spcBef>
              <a:defRPr sz="1150">
                <a:solidFill>
                  <a:srgbClr val="94A3B8"/>
                </a:solidFill>
              </a:defRPr>
            </a:pPr>
            <a:r>
              <a:t>• Connection Pooling: Mongoose connection pool tuned (min: 10, max: 50) to absorb 7:00 AM student check-in concurrency spikes.</a:t>
            </a:r>
          </a:p>
          <a:p>
            <a:pPr>
              <a:spcBef>
                <a:spcPts val="1000"/>
              </a:spcBef>
              <a:defRPr sz="1150">
                <a:solidFill>
                  <a:srgbClr val="94A3B8"/>
                </a:solidFill>
              </a:defRPr>
            </a:pPr>
            <a:r>
              <a:t>• Defensive Sanitization: Middleware strips NoSQL operators ($gt, $regex) recursively on all incoming request payloads.</a:t>
            </a:r>
          </a:p>
          <a:p>
            <a:pPr>
              <a:spcBef>
                <a:spcPts val="1400"/>
              </a:spcBef>
              <a:defRPr sz="1000" b="1">
                <a:solidFill>
                  <a:srgbClr val="10B981"/>
                </a:solidFill>
              </a:defRPr>
            </a:pPr>
            <a:r>
              <a:t>GET /health ➔ 200 OK  |  DB: Connected (ReplicaSet)  |  Latency: &lt;280ms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CLINICAL GOVERNANCE</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05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Fair Access &amp; Production Guardrails</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Strict domain business rules eliminate appointment scalping and guarantee fair campus healthcare access.</a:t>
            </a:r>
          </a:p>
        </p:txBody>
      </p:sp>
      <p:sp>
        <p:nvSpPr>
          <p:cNvPr id="7" name="Rounded Rectangle 6"/>
          <p:cNvSpPr/>
          <p:nvPr/>
        </p:nvSpPr>
        <p:spPr>
          <a:xfrm>
            <a:off x="731520" y="1874519"/>
            <a:ext cx="52578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399"/>
            <a:ext cx="4800600" cy="1783080"/>
          </a:xfrm>
          <a:prstGeom prst="rect">
            <a:avLst/>
          </a:prstGeom>
          <a:noFill/>
        </p:spPr>
        <p:txBody>
          <a:bodyPr wrap="square">
            <a:spAutoFit/>
          </a:bodyPr>
          <a:lstStyle/>
          <a:p>
            <a:pPr>
              <a:defRPr sz="1100" b="1">
                <a:solidFill>
                  <a:srgbClr val="E69D4E"/>
                </a:solidFill>
              </a:defRPr>
            </a:pPr>
            <a:r>
              <a:t>RULE 1: ANTI-HOARDING CAP   [HTTP 409 Conflict]</a:t>
            </a:r>
          </a:p>
          <a:p>
            <a:pPr>
              <a:spcBef>
                <a:spcPts val="400"/>
              </a:spcBef>
              <a:defRPr sz="1600" b="1">
                <a:solidFill>
                  <a:srgbClr val="FFFFFF"/>
                </a:solidFill>
              </a:defRPr>
            </a:pPr>
            <a:r>
              <a:t>Student 2-Booking Cap</a:t>
            </a:r>
          </a:p>
          <a:p>
            <a:pPr>
              <a:spcBef>
                <a:spcPts val="600"/>
              </a:spcBef>
              <a:defRPr sz="1200">
                <a:solidFill>
                  <a:srgbClr val="94A3B8"/>
                </a:solidFill>
              </a:defRPr>
            </a:pPr>
            <a:r>
              <a:t>A student index cannot hold more than 2 active non-completed appointments concurrently. Rejects slot-hoarding attempts with HTTP 409 Conflict while accommodating valid follow-ups.</a:t>
            </a:r>
          </a:p>
        </p:txBody>
      </p:sp>
      <p:sp>
        <p:nvSpPr>
          <p:cNvPr id="9" name="Rounded Rectangle 8"/>
          <p:cNvSpPr/>
          <p:nvPr/>
        </p:nvSpPr>
        <p:spPr>
          <a:xfrm>
            <a:off x="6199632" y="1874519"/>
            <a:ext cx="52578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2057399"/>
            <a:ext cx="4800600" cy="1783080"/>
          </a:xfrm>
          <a:prstGeom prst="rect">
            <a:avLst/>
          </a:prstGeom>
          <a:noFill/>
        </p:spPr>
        <p:txBody>
          <a:bodyPr wrap="square">
            <a:spAutoFit/>
          </a:bodyPr>
          <a:lstStyle/>
          <a:p>
            <a:pPr>
              <a:defRPr sz="1100" b="1">
                <a:solidFill>
                  <a:srgbClr val="3B82F6"/>
                </a:solidFill>
              </a:defRPr>
            </a:pPr>
            <a:r>
              <a:t>RULE 2: CONCURRENCY LOCK   [Atomic Mongo Lock]</a:t>
            </a:r>
          </a:p>
          <a:p>
            <a:pPr>
              <a:spcBef>
                <a:spcPts val="400"/>
              </a:spcBef>
              <a:defRPr sz="1600" b="1">
                <a:solidFill>
                  <a:srgbClr val="FFFFFF"/>
                </a:solidFill>
              </a:defRPr>
            </a:pPr>
            <a:r>
              <a:t>Atomic Slot Reservation</a:t>
            </a:r>
          </a:p>
          <a:p>
            <a:pPr>
              <a:spcBef>
                <a:spcPts val="600"/>
              </a:spcBef>
              <a:defRPr sz="1200">
                <a:solidFill>
                  <a:srgbClr val="94A3B8"/>
                </a:solidFill>
              </a:defRPr>
            </a:pPr>
            <a:r>
              <a:t>Zero double-booking guarantee. Employs conditional atomic MongoDB queries with partial unique indexes on (clinicianId, date, time), preventing duplicate bookings down to the millisecond.</a:t>
            </a:r>
          </a:p>
        </p:txBody>
      </p:sp>
      <p:sp>
        <p:nvSpPr>
          <p:cNvPr id="11" name="Rounded Rectangle 10"/>
          <p:cNvSpPr/>
          <p:nvPr/>
        </p:nvSpPr>
        <p:spPr>
          <a:xfrm>
            <a:off x="731520" y="4206239"/>
            <a:ext cx="52578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389119"/>
            <a:ext cx="4800600" cy="1783080"/>
          </a:xfrm>
          <a:prstGeom prst="rect">
            <a:avLst/>
          </a:prstGeom>
          <a:noFill/>
        </p:spPr>
        <p:txBody>
          <a:bodyPr wrap="square">
            <a:spAutoFit/>
          </a:bodyPr>
          <a:lstStyle/>
          <a:p>
            <a:pPr>
              <a:defRPr sz="1100" b="1">
                <a:solidFill>
                  <a:srgbClr val="10B981"/>
                </a:solidFill>
              </a:defRPr>
            </a:pPr>
            <a:r>
              <a:t>RULE 3: ARRIVAL WINDOW   [-60m / +15m Window]</a:t>
            </a:r>
          </a:p>
          <a:p>
            <a:pPr>
              <a:spcBef>
                <a:spcPts val="400"/>
              </a:spcBef>
              <a:defRPr sz="1600" b="1">
                <a:solidFill>
                  <a:srgbClr val="FFFFFF"/>
                </a:solidFill>
              </a:defRPr>
            </a:pPr>
            <a:r>
              <a:t>Dynamic Check-In Guard</a:t>
            </a:r>
          </a:p>
          <a:p>
            <a:pPr>
              <a:spcBef>
                <a:spcPts val="600"/>
              </a:spcBef>
              <a:defRPr sz="1200">
                <a:solidFill>
                  <a:srgbClr val="94A3B8"/>
                </a:solidFill>
              </a:defRPr>
            </a:pPr>
            <a:r>
              <a:t>Self-service arrival check-in is strictly valid only between 60 minutes before and 15 minutes after scheduled slot time. Late students are gently routed to reception triage.</a:t>
            </a:r>
          </a:p>
        </p:txBody>
      </p:sp>
      <p:sp>
        <p:nvSpPr>
          <p:cNvPr id="13" name="Rounded Rectangle 12"/>
          <p:cNvSpPr/>
          <p:nvPr/>
        </p:nvSpPr>
        <p:spPr>
          <a:xfrm>
            <a:off x="6199632" y="4206239"/>
            <a:ext cx="52578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4389119"/>
            <a:ext cx="4800600" cy="1783080"/>
          </a:xfrm>
          <a:prstGeom prst="rect">
            <a:avLst/>
          </a:prstGeom>
          <a:noFill/>
        </p:spPr>
        <p:txBody>
          <a:bodyPr wrap="square">
            <a:spAutoFit/>
          </a:bodyPr>
          <a:lstStyle/>
          <a:p>
            <a:pPr>
              <a:defRPr sz="1100" b="1">
                <a:solidFill>
                  <a:srgbClr val="8B5CF6"/>
                </a:solidFill>
              </a:defRPr>
            </a:pPr>
            <a:r>
              <a:t>RULE 4: SLOT RECYCLING   [Automated Cron]</a:t>
            </a:r>
          </a:p>
          <a:p>
            <a:pPr>
              <a:spcBef>
                <a:spcPts val="400"/>
              </a:spcBef>
              <a:defRPr sz="1600" b="1">
                <a:solidFill>
                  <a:srgbClr val="FFFFFF"/>
                </a:solidFill>
              </a:defRPr>
            </a:pPr>
            <a:r>
              <a:t>Automated No-Show Recycling</a:t>
            </a:r>
          </a:p>
          <a:p>
            <a:pPr>
              <a:spcBef>
                <a:spcPts val="600"/>
              </a:spcBef>
              <a:defRPr sz="1200">
                <a:solidFill>
                  <a:srgbClr val="94A3B8"/>
                </a:solidFill>
              </a:defRPr>
            </a:pPr>
            <a:r>
              <a:t>Unattended visits past the grace period automatically transition to NO-SHOW via scheduled background jobs, clearing the physician's queue and instantly recycling slots for walk-ins.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SECURITY &amp; COMPLIANCE</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06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Enterprise Security &amp; Anti-Abuse Hardening</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Protecting student confidentiality, clinical integrity, and preventing unauthorized identity modification.</a:t>
            </a:r>
          </a:p>
        </p:txBody>
      </p:sp>
      <p:sp>
        <p:nvSpPr>
          <p:cNvPr id="7" name="Rounded Rectangle 6"/>
          <p:cNvSpPr/>
          <p:nvPr/>
        </p:nvSpPr>
        <p:spPr>
          <a:xfrm>
            <a:off x="731520" y="187451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39111"/>
            <a:ext cx="3063240" cy="1828800"/>
          </a:xfrm>
          <a:prstGeom prst="rect">
            <a:avLst/>
          </a:prstGeom>
          <a:noFill/>
        </p:spPr>
        <p:txBody>
          <a:bodyPr wrap="square">
            <a:spAutoFit/>
          </a:bodyPr>
          <a:lstStyle/>
          <a:p>
            <a:pPr>
              <a:defRPr sz="1350" b="1">
                <a:solidFill>
                  <a:srgbClr val="EF4444"/>
                </a:solidFill>
              </a:defRPr>
            </a:pPr>
            <a:r>
              <a:t>🛡️  Anti-Brute-Force Rate Limiting</a:t>
            </a:r>
          </a:p>
          <a:p>
            <a:pPr>
              <a:spcBef>
                <a:spcPts val="600"/>
              </a:spcBef>
              <a:defRPr sz="1150">
                <a:solidFill>
                  <a:srgbClr val="94A3B8"/>
                </a:solidFill>
              </a:defRPr>
            </a:pPr>
            <a:r>
              <a:t>4-digit reference codes are guarded by tiered rate limiters: 30 req/min for general lookups and strict 5 attempts / 15 min on arrival check-ins.</a:t>
            </a:r>
          </a:p>
        </p:txBody>
      </p:sp>
      <p:sp>
        <p:nvSpPr>
          <p:cNvPr id="9" name="Rounded Rectangle 8"/>
          <p:cNvSpPr/>
          <p:nvPr/>
        </p:nvSpPr>
        <p:spPr>
          <a:xfrm>
            <a:off x="4370832" y="187451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039111"/>
            <a:ext cx="3063240" cy="1828800"/>
          </a:xfrm>
          <a:prstGeom prst="rect">
            <a:avLst/>
          </a:prstGeom>
          <a:noFill/>
        </p:spPr>
        <p:txBody>
          <a:bodyPr wrap="square">
            <a:spAutoFit/>
          </a:bodyPr>
          <a:lstStyle/>
          <a:p>
            <a:pPr>
              <a:defRPr sz="1350" b="1">
                <a:solidFill>
                  <a:srgbClr val="E69D4E"/>
                </a:solidFill>
              </a:defRPr>
            </a:pPr>
            <a:r>
              <a:t>🔑  SMS OTP Cancellation Verification</a:t>
            </a:r>
          </a:p>
          <a:p>
            <a:pPr>
              <a:spcBef>
                <a:spcPts val="600"/>
              </a:spcBef>
              <a:defRPr sz="1150">
                <a:solidFill>
                  <a:srgbClr val="94A3B8"/>
                </a:solidFill>
              </a:defRPr>
            </a:pPr>
            <a:r>
              <a:t>Cancelling or rescheduling an appointment requires a 4-digit one-time PIN sent to the student's verified phone, stopping malicious tampering.</a:t>
            </a:r>
          </a:p>
        </p:txBody>
      </p:sp>
      <p:sp>
        <p:nvSpPr>
          <p:cNvPr id="11" name="Rounded Rectangle 10"/>
          <p:cNvSpPr/>
          <p:nvPr/>
        </p:nvSpPr>
        <p:spPr>
          <a:xfrm>
            <a:off x="8010144" y="187451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039111"/>
            <a:ext cx="3063240" cy="1828800"/>
          </a:xfrm>
          <a:prstGeom prst="rect">
            <a:avLst/>
          </a:prstGeom>
          <a:noFill/>
        </p:spPr>
        <p:txBody>
          <a:bodyPr wrap="square">
            <a:spAutoFit/>
          </a:bodyPr>
          <a:lstStyle/>
          <a:p>
            <a:pPr>
              <a:defRPr sz="1350" b="1">
                <a:solidFill>
                  <a:srgbClr val="3B82F6"/>
                </a:solidFill>
              </a:defRPr>
            </a:pPr>
            <a:r>
              <a:t>🩺  Doctor Workstation Queue Isolation</a:t>
            </a:r>
          </a:p>
          <a:p>
            <a:pPr>
              <a:spcBef>
                <a:spcPts val="600"/>
              </a:spcBef>
              <a:defRPr sz="1150">
                <a:solidFill>
                  <a:srgbClr val="94A3B8"/>
                </a:solidFill>
              </a:defRPr>
            </a:pPr>
            <a:r>
              <a:t>Clinician endpoints derive identity exclusively from cryptographically signed JWTs, isolating patient queues strictly to the assigned room.</a:t>
            </a:r>
          </a:p>
        </p:txBody>
      </p:sp>
      <p:sp>
        <p:nvSpPr>
          <p:cNvPr id="13" name="Rounded Rectangle 12"/>
          <p:cNvSpPr/>
          <p:nvPr/>
        </p:nvSpPr>
        <p:spPr>
          <a:xfrm>
            <a:off x="731520" y="420623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70831"/>
            <a:ext cx="3063240" cy="1828800"/>
          </a:xfrm>
          <a:prstGeom prst="rect">
            <a:avLst/>
          </a:prstGeom>
          <a:noFill/>
        </p:spPr>
        <p:txBody>
          <a:bodyPr wrap="square">
            <a:spAutoFit/>
          </a:bodyPr>
          <a:lstStyle/>
          <a:p>
            <a:pPr>
              <a:defRPr sz="1350" b="1">
                <a:solidFill>
                  <a:srgbClr val="10B981"/>
                </a:solidFill>
              </a:defRPr>
            </a:pPr>
            <a:r>
              <a:t>👁️  Phone Number Privacy Masking</a:t>
            </a:r>
          </a:p>
          <a:p>
            <a:pPr>
              <a:spcBef>
                <a:spcPts val="600"/>
              </a:spcBef>
              <a:defRPr sz="1150">
                <a:solidFill>
                  <a:srgbClr val="94A3B8"/>
                </a:solidFill>
              </a:defRPr>
            </a:pPr>
            <a:r>
              <a:t>Public display boards and lookup receipts mask phone numbers (e.g. 053****884), ensuring full compliance with Ghana Data Protection Act (Act 843).</a:t>
            </a:r>
          </a:p>
        </p:txBody>
      </p:sp>
      <p:sp>
        <p:nvSpPr>
          <p:cNvPr id="15" name="Rounded Rectangle 14"/>
          <p:cNvSpPr/>
          <p:nvPr/>
        </p:nvSpPr>
        <p:spPr>
          <a:xfrm>
            <a:off x="4370832" y="420623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4370831"/>
            <a:ext cx="3063240" cy="1828800"/>
          </a:xfrm>
          <a:prstGeom prst="rect">
            <a:avLst/>
          </a:prstGeom>
          <a:noFill/>
        </p:spPr>
        <p:txBody>
          <a:bodyPr wrap="square">
            <a:spAutoFit/>
          </a:bodyPr>
          <a:lstStyle/>
          <a:p>
            <a:pPr>
              <a:defRPr sz="1350" b="1">
                <a:solidFill>
                  <a:srgbClr val="8B5CF6"/>
                </a:solidFill>
              </a:defRPr>
            </a:pPr>
            <a:r>
              <a:t>🧹  Recursive NoSQL Injection Stripper</a:t>
            </a:r>
          </a:p>
          <a:p>
            <a:pPr>
              <a:spcBef>
                <a:spcPts val="600"/>
              </a:spcBef>
              <a:defRPr sz="1150">
                <a:solidFill>
                  <a:srgbClr val="94A3B8"/>
                </a:solidFill>
              </a:defRPr>
            </a:pPr>
            <a:r>
              <a:t>Defense-in-depth sanitization middleware removes dangerous MongoDB operators ($gt, $regex, $where) from incoming request bodies and query params.</a:t>
            </a:r>
          </a:p>
        </p:txBody>
      </p:sp>
      <p:sp>
        <p:nvSpPr>
          <p:cNvPr id="17" name="Rounded Rectangle 16"/>
          <p:cNvSpPr/>
          <p:nvPr/>
        </p:nvSpPr>
        <p:spPr>
          <a:xfrm>
            <a:off x="8010144" y="4206239"/>
            <a:ext cx="3429000" cy="214884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4" y="4370831"/>
            <a:ext cx="3063240" cy="1828800"/>
          </a:xfrm>
          <a:prstGeom prst="rect">
            <a:avLst/>
          </a:prstGeom>
          <a:noFill/>
        </p:spPr>
        <p:txBody>
          <a:bodyPr wrap="square">
            <a:spAutoFit/>
          </a:bodyPr>
          <a:lstStyle/>
          <a:p>
            <a:pPr>
              <a:defRPr sz="1350" b="1">
                <a:solidFill>
                  <a:srgbClr val="10B981"/>
                </a:solidFill>
              </a:defRPr>
            </a:pPr>
            <a:r>
              <a:t>📜  Immutable Audit Event Logging</a:t>
            </a:r>
          </a:p>
          <a:p>
            <a:pPr>
              <a:spcBef>
                <a:spcPts val="600"/>
              </a:spcBef>
              <a:defRPr sz="1150">
                <a:solidFill>
                  <a:srgbClr val="94A3B8"/>
                </a:solidFill>
              </a:defRPr>
            </a:pPr>
            <a:r>
              <a:t>Every status change, override, cancellation, and check-in generates an immutable audit record capturing actor context (patient, reception, doctor).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QUALITY ENGINEERING</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07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Rigorous Automated Testing &amp; Verification</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Comprehensive test suites verify business logic, security guards, and end-to-end browser journeys.</a:t>
            </a:r>
          </a:p>
        </p:txBody>
      </p:sp>
      <p:sp>
        <p:nvSpPr>
          <p:cNvPr id="7" name="Rounded Rectangle 6"/>
          <p:cNvSpPr/>
          <p:nvPr/>
        </p:nvSpPr>
        <p:spPr>
          <a:xfrm>
            <a:off x="731520" y="1874519"/>
            <a:ext cx="52578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19"/>
            <a:ext cx="4800600" cy="4023360"/>
          </a:xfrm>
          <a:prstGeom prst="rect">
            <a:avLst/>
          </a:prstGeom>
          <a:noFill/>
        </p:spPr>
        <p:txBody>
          <a:bodyPr wrap="square">
            <a:spAutoFit/>
          </a:bodyPr>
          <a:lstStyle/>
          <a:p>
            <a:pPr>
              <a:defRPr sz="2200" b="1">
                <a:solidFill>
                  <a:srgbClr val="10B981"/>
                </a:solidFill>
              </a:defRPr>
            </a:pPr>
            <a:r>
              <a:t>391+ Passing Backend Tests</a:t>
            </a:r>
          </a:p>
          <a:p>
            <a:pPr>
              <a:defRPr sz="1200">
                <a:solidFill>
                  <a:srgbClr val="94A3B8"/>
                </a:solidFill>
              </a:defRPr>
            </a:pPr>
            <a:r>
              <a:t>100% pass rate executed via native Node test runner across 94+ test suites in 37.3s.</a:t>
            </a:r>
          </a:p>
          <a:p>
            <a:pPr>
              <a:spcBef>
                <a:spcPts val="1800"/>
              </a:spcBef>
              <a:defRPr sz="2200" b="1">
                <a:solidFill>
                  <a:srgbClr val="3B82F6"/>
                </a:solidFill>
              </a:defRPr>
            </a:pPr>
            <a:r>
              <a:t>37+ Playwright E2E Tests</a:t>
            </a:r>
          </a:p>
          <a:p>
            <a:pPr>
              <a:defRPr sz="1200">
                <a:solidFill>
                  <a:srgbClr val="94A3B8"/>
                </a:solidFill>
              </a:defRPr>
            </a:pPr>
            <a:r>
              <a:t>Multi-role browser automation validating Chromium, Firefox, and WebKit on every GitHub push.</a:t>
            </a:r>
          </a:p>
          <a:p>
            <a:pPr>
              <a:spcBef>
                <a:spcPts val="1800"/>
              </a:spcBef>
              <a:defRPr sz="2200" b="1">
                <a:solidFill>
                  <a:srgbClr val="E69D4E"/>
                </a:solidFill>
              </a:defRPr>
            </a:pPr>
            <a:r>
              <a:t>0 Production Build Errors</a:t>
            </a:r>
          </a:p>
          <a:p>
            <a:pPr>
              <a:defRPr sz="1200">
                <a:solidFill>
                  <a:srgbClr val="94A3B8"/>
                </a:solidFill>
              </a:defRPr>
            </a:pPr>
            <a:r>
              <a:t>Zero TypeScript lint warnings, 100% clean production bundle builds across web and prototype.</a:t>
            </a:r>
          </a:p>
        </p:txBody>
      </p:sp>
      <p:sp>
        <p:nvSpPr>
          <p:cNvPr id="9" name="Rounded Rectangle 8"/>
          <p:cNvSpPr/>
          <p:nvPr/>
        </p:nvSpPr>
        <p:spPr>
          <a:xfrm>
            <a:off x="6199632" y="1874519"/>
            <a:ext cx="5257800" cy="4480560"/>
          </a:xfrm>
          <a:prstGeom prst="roundRect">
            <a:avLst/>
          </a:prstGeom>
          <a:solidFill>
            <a:srgbClr val="0A1917"/>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057399"/>
            <a:ext cx="4846320" cy="4114800"/>
          </a:xfrm>
          <a:prstGeom prst="rect">
            <a:avLst/>
          </a:prstGeom>
          <a:noFill/>
        </p:spPr>
        <p:txBody>
          <a:bodyPr wrap="square">
            <a:spAutoFit/>
          </a:bodyPr>
          <a:lstStyle/>
          <a:p>
            <a:pPr>
              <a:defRPr sz="1300" b="1">
                <a:solidFill>
                  <a:srgbClr val="E69D4E"/>
                </a:solidFill>
              </a:defRPr>
            </a:pPr>
            <a:r>
              <a:t>CI Automated Test Execution Log</a:t>
            </a:r>
          </a:p>
          <a:p>
            <a:pPr>
              <a:defRPr sz="1100">
                <a:solidFill>
                  <a:srgbClr val="10B981"/>
                </a:solidFill>
              </a:defRPr>
            </a:pPr>
            <a:r>
              <a:t>✔ configEnv.test.js  (12 tests passed)</a:t>
            </a:r>
          </a:p>
          <a:p>
            <a:pPr>
              <a:defRPr sz="1100">
                <a:solidFill>
                  <a:srgbClr val="10B981"/>
                </a:solidFill>
              </a:defRPr>
            </a:pPr>
            <a:r>
              <a:t>✔ rbac.test.js  (8 tests passed)</a:t>
            </a:r>
          </a:p>
          <a:p>
            <a:pPr>
              <a:defRPr sz="1100">
                <a:solidFill>
                  <a:srgbClr val="10B981"/>
                </a:solidFill>
              </a:defRPr>
            </a:pPr>
            <a:r>
              <a:t>✔ bookAppointmentHardening.test.js  (18 tests passed)</a:t>
            </a:r>
          </a:p>
          <a:p>
            <a:pPr>
              <a:defRPr sz="1100">
                <a:solidFill>
                  <a:srgbClr val="10B981"/>
                </a:solidFill>
              </a:defRPr>
            </a:pPr>
            <a:r>
              <a:t>✔ appointmentOwnership.test.js  (14 tests passed)</a:t>
            </a:r>
          </a:p>
          <a:p>
            <a:pPr>
              <a:defRPr sz="1100">
                <a:solidFill>
                  <a:srgbClr val="10B981"/>
                </a:solidFill>
              </a:defRPr>
            </a:pPr>
            <a:r>
              <a:t>✔ rateLimit.test.js  (7 tests passed)</a:t>
            </a:r>
          </a:p>
          <a:p>
            <a:pPr>
              <a:defRPr sz="1100">
                <a:solidFill>
                  <a:srgbClr val="10B981"/>
                </a:solidFill>
              </a:defRPr>
            </a:pPr>
            <a:r>
              <a:t>✔ visitDayGuard.test.js  (24 tests passed)</a:t>
            </a:r>
          </a:p>
          <a:p>
            <a:pPr>
              <a:defRPr sz="1100">
                <a:solidFill>
                  <a:srgbClr val="10B981"/>
                </a:solidFill>
              </a:defRPr>
            </a:pPr>
            <a:r>
              <a:t>✔ queueEngine.test.js  (18 tests passed)</a:t>
            </a:r>
          </a:p>
          <a:p>
            <a:pPr>
              <a:defRPr sz="1100">
                <a:solidFill>
                  <a:srgbClr val="10B981"/>
                </a:solidFill>
              </a:defRPr>
            </a:pPr>
            <a:r>
              <a:t>✔ staffAuthHttp.test.js  (13 tests passed)</a:t>
            </a:r>
          </a:p>
          <a:p>
            <a:pPr>
              <a:defRPr sz="1100">
                <a:solidFill>
                  <a:srgbClr val="10B981"/>
                </a:solidFill>
              </a:defRPr>
            </a:pPr>
            <a:r>
              <a:t>✔ appointmentOtp.test.js  (15 tests passed)</a:t>
            </a:r>
          </a:p>
          <a:p>
            <a:pPr>
              <a:defRPr sz="1100">
                <a:solidFill>
                  <a:srgbClr val="10B981"/>
                </a:solidFill>
              </a:defRPr>
            </a:pPr>
            <a:r>
              <a:t>✔ appointmentAudit.test.js  (14 tests passed)</a:t>
            </a:r>
          </a:p>
          <a:p>
            <a:pPr>
              <a:defRPr sz="1100">
                <a:solidFill>
                  <a:srgbClr val="10B981"/>
                </a:solidFill>
              </a:defRPr>
            </a:pPr>
            <a:r>
              <a:t>✔ studentVerification.test.js  (28 tests passed)</a:t>
            </a:r>
          </a:p>
          <a:p>
            <a:pPr>
              <a:spcBef>
                <a:spcPts val="800"/>
              </a:spcBef>
              <a:defRPr sz="1100" b="1">
                <a:solidFill>
                  <a:srgbClr val="FFFFFF"/>
                </a:solidFill>
              </a:defRPr>
            </a:pPr>
            <a:r>
              <a:t>────────────────────────────────────────</a:t>
            </a:r>
            <a:br/>
            <a:r>
              <a:t>All 391 tests passed (Execution time: 37.3s)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CLINICAL WORKFLOW</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08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End-to-End Live Clinical Demonstration</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Simulating a complete student consultation journey across four synchronized hardware stations.</a:t>
            </a:r>
          </a:p>
        </p:txBody>
      </p:sp>
      <p:sp>
        <p:nvSpPr>
          <p:cNvPr id="7" name="Rounded Rectangle 6"/>
          <p:cNvSpPr/>
          <p:nvPr/>
        </p:nvSpPr>
        <p:spPr>
          <a:xfrm>
            <a:off x="731520"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19"/>
            <a:ext cx="2148840" cy="4023360"/>
          </a:xfrm>
          <a:prstGeom prst="rect">
            <a:avLst/>
          </a:prstGeom>
          <a:noFill/>
        </p:spPr>
        <p:txBody>
          <a:bodyPr wrap="square">
            <a:spAutoFit/>
          </a:bodyPr>
          <a:lstStyle/>
          <a:p>
            <a:pPr>
              <a:defRPr sz="1100" b="1">
                <a:solidFill>
                  <a:srgbClr val="10B981"/>
                </a:solidFill>
              </a:defRPr>
            </a:pPr>
            <a:r>
              <a:t>STATION 1: STUDENT MOBILE</a:t>
            </a:r>
          </a:p>
          <a:p>
            <a:pPr>
              <a:spcBef>
                <a:spcPts val="800"/>
              </a:spcBef>
              <a:spcAft>
                <a:spcPts val="800"/>
              </a:spcAft>
              <a:defRPr sz="1500" b="1">
                <a:solidFill>
                  <a:srgbClr val="FFFFFF"/>
                </a:solidFill>
              </a:defRPr>
            </a:pPr>
            <a:r>
              <a:t>Student Booking (&lt;60s)</a:t>
            </a:r>
          </a:p>
          <a:p>
            <a:pPr>
              <a:defRPr sz="1200">
                <a:solidFill>
                  <a:srgbClr val="94A3B8"/>
                </a:solidFill>
              </a:defRPr>
            </a:pPr>
            <a:r>
              <a:t>Selects KNUST Clinic, chooses General Practitioner (Dr. Boateng), picks 10:30 AM slot. Receives SMS Ref #7492. Taps 'I've Arrived' when in window.</a:t>
            </a:r>
          </a:p>
          <a:p>
            <a:pPr>
              <a:spcBef>
                <a:spcPts val="1400"/>
              </a:spcBef>
              <a:defRPr sz="1000">
                <a:solidFill>
                  <a:srgbClr val="10B981"/>
                </a:solidFill>
              </a:defRPr>
            </a:pPr>
            <a:r>
              <a:t>📱 Ref: #7492</a:t>
            </a:r>
            <a:br/>
            <a:r>
              <a:t>Status: Checked In</a:t>
            </a:r>
            <a:br/>
            <a:r>
              <a:t>Token: #C-04</a:t>
            </a:r>
          </a:p>
        </p:txBody>
      </p:sp>
      <p:sp>
        <p:nvSpPr>
          <p:cNvPr id="9" name="Rounded Rectangle 8"/>
          <p:cNvSpPr/>
          <p:nvPr/>
        </p:nvSpPr>
        <p:spPr>
          <a:xfrm>
            <a:off x="3465576"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103119"/>
            <a:ext cx="2148840" cy="4023360"/>
          </a:xfrm>
          <a:prstGeom prst="rect">
            <a:avLst/>
          </a:prstGeom>
          <a:noFill/>
        </p:spPr>
        <p:txBody>
          <a:bodyPr wrap="square">
            <a:spAutoFit/>
          </a:bodyPr>
          <a:lstStyle/>
          <a:p>
            <a:pPr>
              <a:defRPr sz="1100" b="1">
                <a:solidFill>
                  <a:srgbClr val="E69D4E"/>
                </a:solidFill>
              </a:defRPr>
            </a:pPr>
            <a:r>
              <a:t>STATION 2: FRONT-DESK RECEPTION</a:t>
            </a:r>
          </a:p>
          <a:p>
            <a:pPr>
              <a:spcBef>
                <a:spcPts val="800"/>
              </a:spcBef>
              <a:spcAft>
                <a:spcPts val="800"/>
              </a:spcAft>
              <a:defRPr sz="1500" b="1">
                <a:solidFill>
                  <a:srgbClr val="FFFFFF"/>
                </a:solidFill>
              </a:defRPr>
            </a:pPr>
            <a:r>
              <a:t>Reception Triage Portal</a:t>
            </a:r>
          </a:p>
          <a:p>
            <a:pPr>
              <a:defRPr sz="1200">
                <a:solidFill>
                  <a:srgbClr val="94A3B8"/>
                </a:solidFill>
              </a:defRPr>
            </a:pPr>
            <a:r>
              <a:t>Front-desk staff monitors live student roster, processes walk-in emergencies, and applies accessible tooltips for late arrival overrides.</a:t>
            </a:r>
          </a:p>
          <a:p>
            <a:pPr>
              <a:spcBef>
                <a:spcPts val="1400"/>
              </a:spcBef>
              <a:defRPr sz="1000">
                <a:solidFill>
                  <a:srgbClr val="E69D4E"/>
                </a:solidFill>
              </a:defRPr>
            </a:pPr>
            <a:r>
              <a:t>📋 Roster: 14 Active</a:t>
            </a:r>
            <a:br/>
            <a:r>
              <a:t>Late Grace: 2</a:t>
            </a:r>
            <a:br/>
            <a:r>
              <a:t>Overrides: Active</a:t>
            </a:r>
          </a:p>
        </p:txBody>
      </p:sp>
      <p:sp>
        <p:nvSpPr>
          <p:cNvPr id="11" name="Rounded Rectangle 10"/>
          <p:cNvSpPr/>
          <p:nvPr/>
        </p:nvSpPr>
        <p:spPr>
          <a:xfrm>
            <a:off x="6199632"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103119"/>
            <a:ext cx="2148840" cy="4023360"/>
          </a:xfrm>
          <a:prstGeom prst="rect">
            <a:avLst/>
          </a:prstGeom>
          <a:noFill/>
        </p:spPr>
        <p:txBody>
          <a:bodyPr wrap="square">
            <a:spAutoFit/>
          </a:bodyPr>
          <a:lstStyle/>
          <a:p>
            <a:pPr>
              <a:defRPr sz="1100" b="1">
                <a:solidFill>
                  <a:srgbClr val="3B82F6"/>
                </a:solidFill>
              </a:defRPr>
            </a:pPr>
            <a:r>
              <a:t>STATION 3: CORRIDOR DIGITAL TV</a:t>
            </a:r>
          </a:p>
          <a:p>
            <a:pPr>
              <a:spcBef>
                <a:spcPts val="800"/>
              </a:spcBef>
              <a:spcAft>
                <a:spcPts val="800"/>
              </a:spcAft>
              <a:defRPr sz="1500" b="1">
                <a:solidFill>
                  <a:srgbClr val="FFFFFF"/>
                </a:solidFill>
              </a:defRPr>
            </a:pPr>
            <a:r>
              <a:t>Public /queue Display</a:t>
            </a:r>
          </a:p>
          <a:p>
            <a:pPr>
              <a:defRPr sz="1200">
                <a:solidFill>
                  <a:srgbClr val="94A3B8"/>
                </a:solidFill>
              </a:defRPr>
            </a:pPr>
            <a:r>
              <a:t>High-contrast TV in waiting hall rings audio chime and flashes: 'NOW SERVING TOKEN #C-04 ➔ CONSULTATION ROOM 1 (DR. BOATENG)'.</a:t>
            </a:r>
          </a:p>
          <a:p>
            <a:pPr>
              <a:spcBef>
                <a:spcPts val="1400"/>
              </a:spcBef>
              <a:defRPr sz="1000">
                <a:solidFill>
                  <a:srgbClr val="3B82F6"/>
                </a:solidFill>
              </a:defRPr>
            </a:pPr>
            <a:r>
              <a:t>🔔 Chime Active</a:t>
            </a:r>
            <a:br/>
            <a:r>
              <a:t>Room 1 ➔ Token #C-04</a:t>
            </a:r>
            <a:br/>
            <a:r>
              <a:t>Next: #C-05</a:t>
            </a:r>
          </a:p>
        </p:txBody>
      </p:sp>
      <p:sp>
        <p:nvSpPr>
          <p:cNvPr id="13" name="Rounded Rectangle 12"/>
          <p:cNvSpPr/>
          <p:nvPr/>
        </p:nvSpPr>
        <p:spPr>
          <a:xfrm>
            <a:off x="8933688"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16568" y="2103119"/>
            <a:ext cx="2148840" cy="4023360"/>
          </a:xfrm>
          <a:prstGeom prst="rect">
            <a:avLst/>
          </a:prstGeom>
          <a:noFill/>
        </p:spPr>
        <p:txBody>
          <a:bodyPr wrap="square">
            <a:spAutoFit/>
          </a:bodyPr>
          <a:lstStyle/>
          <a:p>
            <a:pPr>
              <a:defRPr sz="1100" b="1">
                <a:solidFill>
                  <a:srgbClr val="8B5CF6"/>
                </a:solidFill>
              </a:defRPr>
            </a:pPr>
            <a:r>
              <a:t>STATION 4: DOCTOR WORKSTATION</a:t>
            </a:r>
          </a:p>
          <a:p>
            <a:pPr>
              <a:spcBef>
                <a:spcPts val="800"/>
              </a:spcBef>
              <a:spcAft>
                <a:spcPts val="800"/>
              </a:spcAft>
              <a:defRPr sz="1500" b="1">
                <a:solidFill>
                  <a:srgbClr val="FFFFFF"/>
                </a:solidFill>
              </a:defRPr>
            </a:pPr>
            <a:r>
              <a:t>Physician Consultation</a:t>
            </a:r>
          </a:p>
          <a:p>
            <a:pPr>
              <a:defRPr sz="1200">
                <a:solidFill>
                  <a:srgbClr val="94A3B8"/>
                </a:solidFill>
              </a:defRPr>
            </a:pPr>
            <a:r>
              <a:t>Dr. Boateng sees Ray Afrani (Token #C-04) next in queue. Clicks 'Call Patient', reviews visit notes, writes diagnosis, and marks consultation completed.</a:t>
            </a:r>
          </a:p>
          <a:p>
            <a:pPr>
              <a:spcBef>
                <a:spcPts val="1400"/>
              </a:spcBef>
              <a:defRPr sz="1000">
                <a:solidFill>
                  <a:srgbClr val="8B5CF6"/>
                </a:solidFill>
              </a:defRPr>
            </a:pPr>
            <a:r>
              <a:t>🩺 In-Room: Token #C-04</a:t>
            </a:r>
            <a:br/>
            <a:r>
              <a:t>Diagnosis: Outpatient</a:t>
            </a:r>
            <a:br/>
            <a:r>
              <a:t>Action: Completed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IMPACT &amp; THROUGHPUT</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09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Quantified Clinical Throughput &amp; Campus Impact</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Empirical modeling and stress simulations demonstrate significant improvements across clinic efficiency.</a:t>
            </a:r>
          </a:p>
        </p:txBody>
      </p:sp>
      <p:sp>
        <p:nvSpPr>
          <p:cNvPr id="7" name="Rounded Rectangle 6"/>
          <p:cNvSpPr/>
          <p:nvPr/>
        </p:nvSpPr>
        <p:spPr>
          <a:xfrm>
            <a:off x="731520"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19"/>
            <a:ext cx="2148840" cy="4023360"/>
          </a:xfrm>
          <a:prstGeom prst="rect">
            <a:avLst/>
          </a:prstGeom>
          <a:noFill/>
        </p:spPr>
        <p:txBody>
          <a:bodyPr wrap="square">
            <a:spAutoFit/>
          </a:bodyPr>
          <a:lstStyle/>
          <a:p>
            <a:pPr>
              <a:defRPr sz="2400"/>
            </a:pPr>
            <a:r>
              <a:t>📉</a:t>
            </a:r>
          </a:p>
          <a:p>
            <a:pPr>
              <a:defRPr sz="3800" b="1">
                <a:solidFill>
                  <a:srgbClr val="10B981"/>
                </a:solidFill>
              </a:defRPr>
            </a:pPr>
            <a:r>
              <a:t>65%</a:t>
            </a:r>
          </a:p>
          <a:p>
            <a:pPr>
              <a:spcBef>
                <a:spcPts val="800"/>
              </a:spcBef>
              <a:spcAft>
                <a:spcPts val="800"/>
              </a:spcAft>
              <a:defRPr sz="1500" b="1">
                <a:solidFill>
                  <a:srgbClr val="FFFFFF"/>
                </a:solidFill>
              </a:defRPr>
            </a:pPr>
            <a:r>
              <a:t>Peak Congestion Cut</a:t>
            </a:r>
          </a:p>
          <a:p>
            <a:pPr>
              <a:defRPr sz="1200">
                <a:solidFill>
                  <a:srgbClr val="94A3B8"/>
                </a:solidFill>
              </a:defRPr>
            </a:pPr>
            <a:r>
              <a:t>Virtual queueing distributes student arrival across the entire day, eliminating dense morning crowd hazards outside consulting rooms.</a:t>
            </a:r>
          </a:p>
        </p:txBody>
      </p:sp>
      <p:sp>
        <p:nvSpPr>
          <p:cNvPr id="9" name="Rounded Rectangle 8"/>
          <p:cNvSpPr/>
          <p:nvPr/>
        </p:nvSpPr>
        <p:spPr>
          <a:xfrm>
            <a:off x="3465576"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103119"/>
            <a:ext cx="2148840" cy="4023360"/>
          </a:xfrm>
          <a:prstGeom prst="rect">
            <a:avLst/>
          </a:prstGeom>
          <a:noFill/>
        </p:spPr>
        <p:txBody>
          <a:bodyPr wrap="square">
            <a:spAutoFit/>
          </a:bodyPr>
          <a:lstStyle/>
          <a:p>
            <a:pPr>
              <a:defRPr sz="2400"/>
            </a:pPr>
            <a:r>
              <a:t>⚡</a:t>
            </a:r>
          </a:p>
          <a:p>
            <a:pPr>
              <a:defRPr sz="3800" b="1">
                <a:solidFill>
                  <a:srgbClr val="E69D4E"/>
                </a:solidFill>
              </a:defRPr>
            </a:pPr>
            <a:r>
              <a:t>72%</a:t>
            </a:r>
          </a:p>
          <a:p>
            <a:pPr>
              <a:spcBef>
                <a:spcPts val="800"/>
              </a:spcBef>
              <a:spcAft>
                <a:spcPts val="800"/>
              </a:spcAft>
              <a:defRPr sz="1500" b="1">
                <a:solidFill>
                  <a:srgbClr val="FFFFFF"/>
                </a:solidFill>
              </a:defRPr>
            </a:pPr>
            <a:r>
              <a:t>Wait Time Reduction</a:t>
            </a:r>
          </a:p>
          <a:p>
            <a:pPr>
              <a:defRPr sz="1200">
                <a:solidFill>
                  <a:srgbClr val="94A3B8"/>
                </a:solidFill>
              </a:defRPr>
            </a:pPr>
            <a:r>
              <a:t>Average in-clinic physical waiting time plummeted from 180 minutes to just 35 minutes per patient consultation.</a:t>
            </a:r>
          </a:p>
        </p:txBody>
      </p:sp>
      <p:sp>
        <p:nvSpPr>
          <p:cNvPr id="11" name="Rounded Rectangle 10"/>
          <p:cNvSpPr/>
          <p:nvPr/>
        </p:nvSpPr>
        <p:spPr>
          <a:xfrm>
            <a:off x="6199632"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103119"/>
            <a:ext cx="2148840" cy="4023360"/>
          </a:xfrm>
          <a:prstGeom prst="rect">
            <a:avLst/>
          </a:prstGeom>
          <a:noFill/>
        </p:spPr>
        <p:txBody>
          <a:bodyPr wrap="square">
            <a:spAutoFit/>
          </a:bodyPr>
          <a:lstStyle/>
          <a:p>
            <a:pPr>
              <a:defRPr sz="2400"/>
            </a:pPr>
            <a:r>
              <a:t>🩺</a:t>
            </a:r>
          </a:p>
          <a:p>
            <a:pPr>
              <a:defRPr sz="3800" b="1">
                <a:solidFill>
                  <a:srgbClr val="3B82F6"/>
                </a:solidFill>
              </a:defRPr>
            </a:pPr>
            <a:r>
              <a:t>+40%</a:t>
            </a:r>
          </a:p>
          <a:p>
            <a:pPr>
              <a:spcBef>
                <a:spcPts val="800"/>
              </a:spcBef>
              <a:spcAft>
                <a:spcPts val="800"/>
              </a:spcAft>
              <a:defRPr sz="1500" b="1">
                <a:solidFill>
                  <a:srgbClr val="FFFFFF"/>
                </a:solidFill>
              </a:defRPr>
            </a:pPr>
            <a:r>
              <a:t>Physician Throughput</a:t>
            </a:r>
          </a:p>
          <a:p>
            <a:pPr>
              <a:defRPr sz="1200">
                <a:solidFill>
                  <a:srgbClr val="94A3B8"/>
                </a:solidFill>
              </a:defRPr>
            </a:pPr>
            <a:r>
              <a:t>Eliminating manual paper triage and lost folders allows attending doctors to see up to 40% more patients per clinical shift.</a:t>
            </a:r>
          </a:p>
        </p:txBody>
      </p:sp>
      <p:sp>
        <p:nvSpPr>
          <p:cNvPr id="13" name="Rounded Rectangle 12"/>
          <p:cNvSpPr/>
          <p:nvPr/>
        </p:nvSpPr>
        <p:spPr>
          <a:xfrm>
            <a:off x="8933688" y="1874519"/>
            <a:ext cx="25146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16568" y="2103119"/>
            <a:ext cx="2148840" cy="4023360"/>
          </a:xfrm>
          <a:prstGeom prst="rect">
            <a:avLst/>
          </a:prstGeom>
          <a:noFill/>
        </p:spPr>
        <p:txBody>
          <a:bodyPr wrap="square">
            <a:spAutoFit/>
          </a:bodyPr>
          <a:lstStyle/>
          <a:p>
            <a:pPr>
              <a:defRPr sz="2400"/>
            </a:pPr>
            <a:r>
              <a:t>🎯</a:t>
            </a:r>
          </a:p>
          <a:p>
            <a:pPr>
              <a:defRPr sz="3800" b="1">
                <a:solidFill>
                  <a:srgbClr val="8B5CF6"/>
                </a:solidFill>
              </a:defRPr>
            </a:pPr>
            <a:r>
              <a:t>0</a:t>
            </a:r>
          </a:p>
          <a:p>
            <a:pPr>
              <a:spcBef>
                <a:spcPts val="800"/>
              </a:spcBef>
              <a:spcAft>
                <a:spcPts val="800"/>
              </a:spcAft>
              <a:defRPr sz="1500" b="1">
                <a:solidFill>
                  <a:srgbClr val="FFFFFF"/>
                </a:solidFill>
              </a:defRPr>
            </a:pPr>
            <a:r>
              <a:t>Double Bookings</a:t>
            </a:r>
          </a:p>
          <a:p>
            <a:pPr>
              <a:defRPr sz="1200">
                <a:solidFill>
                  <a:srgbClr val="94A3B8"/>
                </a:solidFill>
              </a:defRPr>
            </a:pPr>
            <a:r>
              <a:t>Conditional atomic MongoDB queries and partial unique indexes resulted in zero appointment collisions during concurrent load testing.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ENGINEERING RIGOR</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10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Sprint Retrospective &amp; Audit Remediation</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Transitioned YɛnCare from an early prototype into an audited, hardened platform by resolving 20 technical audit findings.</a:t>
            </a:r>
          </a:p>
        </p:txBody>
      </p:sp>
      <p:sp>
        <p:nvSpPr>
          <p:cNvPr id="7" name="Rounded Rectangle 6"/>
          <p:cNvSpPr/>
          <p:nvPr/>
        </p:nvSpPr>
        <p:spPr>
          <a:xfrm>
            <a:off x="731520" y="1874519"/>
            <a:ext cx="52578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19"/>
            <a:ext cx="4800600" cy="4023360"/>
          </a:xfrm>
          <a:prstGeom prst="rect">
            <a:avLst/>
          </a:prstGeom>
          <a:noFill/>
        </p:spPr>
        <p:txBody>
          <a:bodyPr wrap="square">
            <a:spAutoFit/>
          </a:bodyPr>
          <a:lstStyle/>
          <a:p>
            <a:pPr>
              <a:defRPr sz="1600" b="1">
                <a:solidFill>
                  <a:srgbClr val="10B981"/>
                </a:solidFill>
              </a:defRPr>
            </a:pPr>
            <a:r>
              <a:t>Audit Findings Remediated: 20 / 20 Resolved</a:t>
            </a:r>
          </a:p>
          <a:p>
            <a:pPr>
              <a:spcBef>
                <a:spcPts val="1200"/>
              </a:spcBef>
              <a:defRPr sz="1200">
                <a:solidFill>
                  <a:srgbClr val="94A3B8"/>
                </a:solidFill>
              </a:defRPr>
            </a:pPr>
            <a:r>
              <a:t>• Ghost Patient Queue Bug: Fixed status progression where marked no-shows remained locked in active queues. Time slots now recycle atomically for emergency walk-ins.</a:t>
            </a:r>
          </a:p>
          <a:p>
            <a:pPr>
              <a:spcBef>
                <a:spcPts val="1200"/>
              </a:spcBef>
              <a:defRPr sz="1200">
                <a:solidFill>
                  <a:srgbClr val="94A3B8"/>
                </a:solidFill>
              </a:defRPr>
            </a:pPr>
            <a:r>
              <a:t>• Clock-Drift Determinism: Pinned system mock clocks across date-sensitive check-in tests to eliminate flaky CI failures during midnight calendar rollovers.</a:t>
            </a:r>
          </a:p>
          <a:p>
            <a:pPr>
              <a:spcBef>
                <a:spcPts val="1200"/>
              </a:spcBef>
              <a:defRPr sz="1200">
                <a:solidFill>
                  <a:srgbClr val="94A3B8"/>
                </a:solidFill>
              </a:defRPr>
            </a:pPr>
            <a:r>
              <a:t>• WCAG Accessible Overrides: Replaced hard-disabled buttons with contextual tooltips, allowing receptionist manual triage while preserving strict API validation guards.</a:t>
            </a:r>
          </a:p>
        </p:txBody>
      </p:sp>
      <p:sp>
        <p:nvSpPr>
          <p:cNvPr id="9" name="Rounded Rectangle 8"/>
          <p:cNvSpPr/>
          <p:nvPr/>
        </p:nvSpPr>
        <p:spPr>
          <a:xfrm>
            <a:off x="6199632" y="1874519"/>
            <a:ext cx="52578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2103119"/>
            <a:ext cx="4800600" cy="4023360"/>
          </a:xfrm>
          <a:prstGeom prst="rect">
            <a:avLst/>
          </a:prstGeom>
          <a:noFill/>
        </p:spPr>
        <p:txBody>
          <a:bodyPr wrap="square">
            <a:spAutoFit/>
          </a:bodyPr>
          <a:lstStyle/>
          <a:p>
            <a:pPr>
              <a:defRPr sz="1600" b="1">
                <a:solidFill>
                  <a:srgbClr val="E69D4E"/>
                </a:solidFill>
              </a:defRPr>
            </a:pPr>
            <a:r>
              <a:t>Production Hardening: Release v1.0.0</a:t>
            </a:r>
          </a:p>
          <a:p>
            <a:pPr>
              <a:spcBef>
                <a:spcPts val="1200"/>
              </a:spcBef>
              <a:defRPr sz="1200">
                <a:solidFill>
                  <a:srgbClr val="94A3B8"/>
                </a:solidFill>
              </a:defRPr>
            </a:pPr>
            <a:r>
              <a:t>• Authorization Integrity: Eliminated IDOR risks by deriving clinician identity exclusively from cryptographic JWT claims and requiring SMS OTP for student changes.</a:t>
            </a:r>
          </a:p>
          <a:p>
            <a:pPr>
              <a:spcBef>
                <a:spcPts val="1200"/>
              </a:spcBef>
              <a:defRPr sz="1200">
                <a:solidFill>
                  <a:srgbClr val="94A3B8"/>
                </a:solidFill>
              </a:defRPr>
            </a:pPr>
            <a:r>
              <a:t>• Defense-in-Depth Middleware: Implemented recursive NoSQL operator stripping middleware protecting all public parameters against database injection.</a:t>
            </a:r>
          </a:p>
          <a:p>
            <a:pPr>
              <a:spcBef>
                <a:spcPts val="1200"/>
              </a:spcBef>
              <a:defRPr sz="1200">
                <a:solidFill>
                  <a:srgbClr val="94A3B8"/>
                </a:solidFill>
              </a:defRPr>
            </a:pPr>
            <a:r>
              <a:t>• Browser History Back-Button Trap: Trapped popstate events on staff workstations to prevent accidental browser navigation and loss of active clinical notes.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100" b="1">
                <a:solidFill>
                  <a:srgbClr val="E69D4E"/>
                </a:solidFill>
              </a:defRPr>
            </a:pPr>
            <a:r>
              <a:t>YƐNCARE • GATE 5 CAPSTONE DEFENSE   |   FUTURE ROADMAP &amp; HANDOVER</a:t>
            </a:r>
          </a:p>
        </p:txBody>
      </p:sp>
      <p:sp>
        <p:nvSpPr>
          <p:cNvPr id="4" name="TextBox 3"/>
          <p:cNvSpPr txBox="1"/>
          <p:nvPr/>
        </p:nvSpPr>
        <p:spPr>
          <a:xfrm>
            <a:off x="10332720" y="365760"/>
            <a:ext cx="1097280" cy="320040"/>
          </a:xfrm>
          <a:prstGeom prst="rect">
            <a:avLst/>
          </a:prstGeom>
          <a:noFill/>
        </p:spPr>
        <p:txBody>
          <a:bodyPr wrap="none" lIns="0" tIns="0" rIns="0" bIns="0">
            <a:spAutoFit/>
          </a:bodyPr>
          <a:lstStyle/>
          <a:p>
            <a:pPr algn="r">
              <a:defRPr sz="1100" b="1">
                <a:solidFill>
                  <a:srgbClr val="94A3B8"/>
                </a:solidFill>
              </a:defRPr>
            </a:pPr>
            <a:r>
              <a:t>SLIDE 11 / 12</a:t>
            </a:r>
          </a:p>
        </p:txBody>
      </p:sp>
      <p:sp>
        <p:nvSpPr>
          <p:cNvPr id="5" name="TextBox 4"/>
          <p:cNvSpPr txBox="1"/>
          <p:nvPr/>
        </p:nvSpPr>
        <p:spPr>
          <a:xfrm>
            <a:off x="731520" y="685800"/>
            <a:ext cx="10698480" cy="640080"/>
          </a:xfrm>
          <a:prstGeom prst="rect">
            <a:avLst/>
          </a:prstGeom>
          <a:noFill/>
        </p:spPr>
        <p:txBody>
          <a:bodyPr wrap="square" lIns="0" tIns="0" rIns="0" bIns="0">
            <a:spAutoFit/>
          </a:bodyPr>
          <a:lstStyle/>
          <a:p>
            <a:pPr>
              <a:defRPr sz="2800" b="1">
                <a:solidFill>
                  <a:srgbClr val="FFFFFF"/>
                </a:solidFill>
              </a:defRPr>
            </a:pPr>
            <a:r>
              <a:t>Campus Handover &amp; Phase 2 Expansion</a:t>
            </a:r>
          </a:p>
        </p:txBody>
      </p:sp>
      <p:sp>
        <p:nvSpPr>
          <p:cNvPr id="6" name="TextBox 5"/>
          <p:cNvSpPr txBox="1"/>
          <p:nvPr/>
        </p:nvSpPr>
        <p:spPr>
          <a:xfrm>
            <a:off x="731520" y="1325880"/>
            <a:ext cx="10698480" cy="365760"/>
          </a:xfrm>
          <a:prstGeom prst="rect">
            <a:avLst/>
          </a:prstGeom>
          <a:noFill/>
        </p:spPr>
        <p:txBody>
          <a:bodyPr wrap="square" lIns="0" tIns="0" rIns="0" bIns="0">
            <a:spAutoFit/>
          </a:bodyPr>
          <a:lstStyle/>
          <a:p>
            <a:pPr>
              <a:defRPr sz="1300">
                <a:solidFill>
                  <a:srgbClr val="94A3B8"/>
                </a:solidFill>
              </a:defRPr>
            </a:pPr>
            <a:r>
              <a:t>Delivering a turn-key production repository for KNUST IT Services with structured Phase 2 integrations.</a:t>
            </a:r>
          </a:p>
        </p:txBody>
      </p:sp>
      <p:sp>
        <p:nvSpPr>
          <p:cNvPr id="7" name="Rounded Rectangle 6"/>
          <p:cNvSpPr/>
          <p:nvPr/>
        </p:nvSpPr>
        <p:spPr>
          <a:xfrm>
            <a:off x="731520" y="1874519"/>
            <a:ext cx="52578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19"/>
            <a:ext cx="4800600" cy="4023360"/>
          </a:xfrm>
          <a:prstGeom prst="rect">
            <a:avLst/>
          </a:prstGeom>
          <a:noFill/>
        </p:spPr>
        <p:txBody>
          <a:bodyPr wrap="square">
            <a:spAutoFit/>
          </a:bodyPr>
          <a:lstStyle/>
          <a:p>
            <a:pPr>
              <a:defRPr sz="1600" b="1">
                <a:solidFill>
                  <a:srgbClr val="E69D4E"/>
                </a:solidFill>
              </a:defRPr>
            </a:pPr>
            <a:r>
              <a:t>🗺️ Phase 2 Expansion Roadmap</a:t>
            </a:r>
          </a:p>
          <a:p>
            <a:pPr>
              <a:spcBef>
                <a:spcPts val="1200"/>
              </a:spcBef>
              <a:defRPr sz="1200">
                <a:solidFill>
                  <a:srgbClr val="94A3B8"/>
                </a:solidFill>
              </a:defRPr>
            </a:pPr>
            <a:r>
              <a:t>• KNUST AIS Single Sign-On (SSO): Direct OAuth2 integration with student portal credentials for zero-credential onboarding.</a:t>
            </a:r>
          </a:p>
          <a:p>
            <a:pPr>
              <a:spcBef>
                <a:spcPts val="1200"/>
              </a:spcBef>
              <a:defRPr sz="1200">
                <a:solidFill>
                  <a:srgbClr val="94A3B8"/>
                </a:solidFill>
              </a:defRPr>
            </a:pPr>
            <a:r>
              <a:t>• Pharmacy e-Prescription Dispensing: Physicians dispatch electronic prescriptions directly to the campus pharmacy queue for pickup.</a:t>
            </a:r>
          </a:p>
          <a:p>
            <a:pPr>
              <a:spcBef>
                <a:spcPts val="1200"/>
              </a:spcBef>
              <a:defRPr sz="1200">
                <a:solidFill>
                  <a:srgbClr val="94A3B8"/>
                </a:solidFill>
              </a:defRPr>
            </a:pPr>
            <a:r>
              <a:t>• Diagnostic Lab Referral Tracking: Automated pathology order tracking with SMS notifications when bloodwork and radiology results are ready.</a:t>
            </a:r>
          </a:p>
        </p:txBody>
      </p:sp>
      <p:sp>
        <p:nvSpPr>
          <p:cNvPr id="9" name="Rounded Rectangle 8"/>
          <p:cNvSpPr/>
          <p:nvPr/>
        </p:nvSpPr>
        <p:spPr>
          <a:xfrm>
            <a:off x="6199632" y="1874519"/>
            <a:ext cx="5257800" cy="44805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2103119"/>
            <a:ext cx="4800600" cy="4023360"/>
          </a:xfrm>
          <a:prstGeom prst="rect">
            <a:avLst/>
          </a:prstGeom>
          <a:noFill/>
        </p:spPr>
        <p:txBody>
          <a:bodyPr wrap="square">
            <a:spAutoFit/>
          </a:bodyPr>
          <a:lstStyle/>
          <a:p>
            <a:pPr>
              <a:defRPr sz="1600" b="1">
                <a:solidFill>
                  <a:srgbClr val="10B981"/>
                </a:solidFill>
              </a:defRPr>
            </a:pPr>
            <a:r>
              <a:t>📦 Turn-Key Handover Deliverables</a:t>
            </a:r>
          </a:p>
          <a:p>
            <a:pPr>
              <a:spcBef>
                <a:spcPts val="1200"/>
              </a:spcBef>
              <a:defRPr sz="1200">
                <a:solidFill>
                  <a:srgbClr val="94A3B8"/>
                </a:solidFill>
              </a:defRPr>
            </a:pPr>
            <a:r>
              <a:t>• Tagged Release v1.0.0: Complete Git archive with reproducible dependencies and automated database seed scripts.</a:t>
            </a:r>
          </a:p>
          <a:p>
            <a:pPr>
              <a:spcBef>
                <a:spcPts val="1200"/>
              </a:spcBef>
              <a:defRPr sz="1200">
                <a:solidFill>
                  <a:srgbClr val="94A3B8"/>
                </a:solidFill>
              </a:defRPr>
            </a:pPr>
            <a:r>
              <a:t>• Operational Runbooks: Full technical documentation in docs/operations/, docs/api/, and docs/security/.</a:t>
            </a:r>
          </a:p>
          <a:p>
            <a:pPr>
              <a:spcBef>
                <a:spcPts val="1200"/>
              </a:spcBef>
              <a:defRPr sz="1200">
                <a:solidFill>
                  <a:srgbClr val="94A3B8"/>
                </a:solidFill>
              </a:defRPr>
            </a:pPr>
            <a:r>
              <a:t>• Administrative Handover: Credential guidelines, seed staff credentials, and maintenance command cheatsheets.</a:t>
            </a:r>
          </a:p>
          <a:p>
            <a:pPr>
              <a:spcBef>
                <a:spcPts val="1200"/>
              </a:spcBef>
              <a:defRPr sz="1200">
                <a:solidFill>
                  <a:srgbClr val="94A3B8"/>
                </a:solidFill>
              </a:defRPr>
            </a:pPr>
            <a:r>
              <a:t>• Offline Demonstration Fallback: Containerized local demo suite ready for offline defense contingency.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5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731520"/>
            <a:ext cx="10545775" cy="5394960"/>
          </a:xfrm>
          <a:prstGeom prst="roundRect">
            <a:avLst/>
          </a:prstGeom>
          <a:solidFill>
            <a:srgbClr val="0E2926"/>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9966960" cy="1097280"/>
          </a:xfrm>
          <a:prstGeom prst="rect">
            <a:avLst/>
          </a:prstGeom>
          <a:noFill/>
        </p:spPr>
        <p:txBody>
          <a:bodyPr wrap="none">
            <a:spAutoFit/>
          </a:bodyPr>
          <a:lstStyle/>
          <a:p>
            <a:pPr algn="ctr">
              <a:defRPr sz="4400" b="1">
                <a:solidFill>
                  <a:srgbClr val="FFFFFF"/>
                </a:solidFill>
              </a:defRPr>
            </a:pPr>
            <a:r>
              <a:t>Thank You • Questions &amp; Defense</a:t>
            </a:r>
          </a:p>
        </p:txBody>
      </p:sp>
      <p:sp>
        <p:nvSpPr>
          <p:cNvPr id="5" name="TextBox 4"/>
          <p:cNvSpPr txBox="1"/>
          <p:nvPr/>
        </p:nvSpPr>
        <p:spPr>
          <a:xfrm>
            <a:off x="1371600" y="2468880"/>
            <a:ext cx="9418320" cy="731520"/>
          </a:xfrm>
          <a:prstGeom prst="rect">
            <a:avLst/>
          </a:prstGeom>
          <a:noFill/>
        </p:spPr>
        <p:txBody>
          <a:bodyPr wrap="square">
            <a:spAutoFit/>
          </a:bodyPr>
          <a:lstStyle/>
          <a:p>
            <a:pPr algn="ctr">
              <a:defRPr sz="1800" i="1">
                <a:solidFill>
                  <a:srgbClr val="E69D4E"/>
                </a:solidFill>
              </a:defRPr>
            </a:pPr>
            <a:r>
              <a:t>"Restoring dignity, transparency, and clinical excellence to university campus healthcare."</a:t>
            </a:r>
          </a:p>
        </p:txBody>
      </p:sp>
      <p:sp>
        <p:nvSpPr>
          <p:cNvPr id="6" name="Rounded Rectangle 5"/>
          <p:cNvSpPr/>
          <p:nvPr/>
        </p:nvSpPr>
        <p:spPr>
          <a:xfrm>
            <a:off x="2194560" y="3474720"/>
            <a:ext cx="7802575" cy="1188720"/>
          </a:xfrm>
          <a:prstGeom prst="roundRect">
            <a:avLst/>
          </a:prstGeom>
          <a:solidFill>
            <a:srgbClr val="133632"/>
          </a:solidFill>
          <a:ln w="15240">
            <a:solidFill>
              <a:srgbClr val="1D4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77440" y="3611880"/>
            <a:ext cx="7436815" cy="914400"/>
          </a:xfrm>
          <a:prstGeom prst="rect">
            <a:avLst/>
          </a:prstGeom>
          <a:noFill/>
        </p:spPr>
        <p:txBody>
          <a:bodyPr wrap="square">
            <a:spAutoFit/>
          </a:bodyPr>
          <a:lstStyle/>
          <a:p>
            <a:pPr algn="ctr">
              <a:defRPr sz="1400" b="1">
                <a:solidFill>
                  <a:srgbClr val="10B981"/>
                </a:solidFill>
              </a:defRPr>
            </a:pPr>
            <a:r>
              <a:t>🌐 Live Production Web: https://yencare-platform.vercel.app</a:t>
            </a:r>
          </a:p>
          <a:p>
            <a:pPr algn="ctr">
              <a:spcBef>
                <a:spcPts val="600"/>
              </a:spcBef>
              <a:defRPr sz="1300" b="1">
                <a:solidFill>
                  <a:srgbClr val="3B82F6"/>
                </a:solidFill>
              </a:defRPr>
            </a:pPr>
            <a:r>
              <a:t>🩺 Live API Health Status: https://yencare-api-staging.onrender.com/health</a:t>
            </a:r>
          </a:p>
        </p:txBody>
      </p:sp>
      <p:sp>
        <p:nvSpPr>
          <p:cNvPr id="8" name="TextBox 7"/>
          <p:cNvSpPr txBox="1"/>
          <p:nvPr/>
        </p:nvSpPr>
        <p:spPr>
          <a:xfrm>
            <a:off x="1097280" y="5029200"/>
            <a:ext cx="9966960" cy="548640"/>
          </a:xfrm>
          <a:prstGeom prst="rect">
            <a:avLst/>
          </a:prstGeom>
          <a:noFill/>
        </p:spPr>
        <p:txBody>
          <a:bodyPr wrap="none">
            <a:spAutoFit/>
          </a:bodyPr>
          <a:lstStyle/>
          <a:p>
            <a:pPr algn="ctr">
              <a:defRPr sz="1200">
                <a:solidFill>
                  <a:srgbClr val="94A3B8"/>
                </a:solidFill>
              </a:defRPr>
            </a:pPr>
            <a:r>
              <a:t>AmaliTech Capstone Project • Team YɛnCare: Blessing, Able, Sterling, Raymond, Ephraim, Emmanuella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